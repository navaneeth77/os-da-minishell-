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Our project is MiniShell++, a small terminal that we built ourselves in C. It looks and works like the Ubuntu terminal and runs in the browser. For DA 2 we have finished about 80 percent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will cover today: the problem, our solution, the tools we used, how we built it, what already works, what we will do next, and 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a Mac, and dual booting Linux is difficult and risky. But our OS course needs us to practise Linux commands, and we can only do that in the lab. Many people also don't want to switch to Linux before they know the basic commands. So we needed a way to practise Linux commands without installing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MiniShell++. It runs in the web browser on any laptop, including a Mac, and looks and works just like the Ubuntu terminal. The commands and their outputs are the same as on Linux, so what you practise here works in the lab too. You can run commands, write code in gedit, compile it with gcc, run it, and pause it with Ctrl-Z.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language is C. The shell uses Unix system calls like fork and exec to run programs. A pseudo-terminal lets the browser act like a real terminal. The window itself is made with HTML, CSS and JavaScript. We build with GCC and Make, and test with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press a key in the browser, our C server sends it to a pseudo-terminal. That is the same thing real terminal apps use, so everything behaves exactly like Ubuntu. MiniShell++ reads the command and starts the program. The output comes back the same way to your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command goes through five steps. The shell reads the line, splits it into words, makes a copy of itself with fork, turns that copy into the program with exec, and waits for it to finish. Ctrl-Z pauses the program; jobs, fg and bg let us control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already works. Sixteen commands, including gedit, gcc and running our own programs. Ctrl-C and Ctrl-Z work just like in Ubuntu. We wrote 22 automatic tests and all of them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last 20 percent we will add convenience features: running several commands in one line, wildcards like star dot c, Tab completion, saved history, a few more commands like cp and rm, and final testing on the Linux lab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we built a working terminal in C that feels like Ubuntu. Anyone can now practise Linux commands on their own laptop before moving to Linux, without dual booting. 80 percent is complete, and the rest adds extra features. Thank you. We are happy to take questions, or show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0A22"/>
        </a:solidFill>
      </p:bgPr>
    </p:bg>
    <p:spTree>
      <p:nvGrpSpPr>
        <p:cNvPr id="1" name=""/>
        <p:cNvGrpSpPr/>
        <p:nvPr/>
      </p:nvGrpSpPr>
      <p:grpSpPr>
        <a:xfrm>
          <a:off x="0" y="0"/>
          <a:ext cx="0" cy="0"/>
          <a:chOff x="0" y="0"/>
          <a:chExt cx="0" cy="0"/>
        </a:xfrm>
      </p:grpSpPr>
      <p:sp>
        <p:nvSpPr>
          <p:cNvPr id="2" name="Text 0"/>
          <p:cNvSpPr txBox="1"/>
          <p:nvPr/>
        </p:nvSpPr>
        <p:spPr>
          <a:xfrm>
            <a:off x="548640" y="914400"/>
            <a:ext cx="4206240" cy="274320"/>
          </a:xfrm>
          <a:prstGeom prst="rect">
            <a:avLst/>
          </a:prstGeom>
          <a:noFill/>
          <a:ln/>
        </p:spPr>
        <p:txBody>
          <a:bodyPr wrap="square" lIns="0" tIns="0" rIns="0" bIns="0" rtlCol="0" anchor="ctr"/>
          <a:lstStyle/>
          <a:p>
            <a:pPr indent="0" marL="0">
              <a:buNone/>
            </a:pPr>
            <a:r>
              <a:rPr lang="en-US" sz="1200" b="1" spc="300" kern="0" dirty="0">
                <a:solidFill>
                  <a:srgbClr val="E95420"/>
                </a:solidFill>
                <a:latin typeface="Calibri" pitchFamily="34" charset="0"/>
                <a:ea typeface="Calibri" pitchFamily="34" charset="-122"/>
                <a:cs typeface="Calibri" pitchFamily="34" charset="-120"/>
              </a:rPr>
              <a:t>OPERATING SYSTEMS  ·  DA 2</a:t>
            </a:r>
            <a:endParaRPr lang="en-US" sz="1200" dirty="0"/>
          </a:p>
        </p:txBody>
      </p:sp>
      <p:sp>
        <p:nvSpPr>
          <p:cNvPr id="3" name="Text 1"/>
          <p:cNvSpPr txBox="1"/>
          <p:nvPr/>
        </p:nvSpPr>
        <p:spPr>
          <a:xfrm>
            <a:off x="548640" y="1280160"/>
            <a:ext cx="420624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MiniShell++</a:t>
            </a:r>
            <a:endParaRPr lang="en-US" sz="4800" dirty="0"/>
          </a:p>
        </p:txBody>
      </p:sp>
      <p:sp>
        <p:nvSpPr>
          <p:cNvPr id="4" name="Text 2"/>
          <p:cNvSpPr txBox="1"/>
          <p:nvPr/>
        </p:nvSpPr>
        <p:spPr>
          <a:xfrm>
            <a:off x="548640" y="2148840"/>
            <a:ext cx="4206240" cy="411480"/>
          </a:xfrm>
          <a:prstGeom prst="rect">
            <a:avLst/>
          </a:prstGeom>
          <a:noFill/>
          <a:ln/>
        </p:spPr>
        <p:txBody>
          <a:bodyPr wrap="square" lIns="0" tIns="0" rIns="0" bIns="0" rtlCol="0" anchor="ctr"/>
          <a:lstStyle/>
          <a:p>
            <a:pPr indent="0" marL="0">
              <a:buNone/>
            </a:pPr>
            <a:r>
              <a:rPr lang="en-US" sz="2000" dirty="0">
                <a:solidFill>
                  <a:srgbClr val="E8DDE5"/>
                </a:solidFill>
                <a:latin typeface="Calibri" pitchFamily="34" charset="0"/>
                <a:ea typeface="Calibri" pitchFamily="34" charset="-122"/>
                <a:cs typeface="Calibri" pitchFamily="34" charset="-120"/>
              </a:rPr>
              <a:t>Our own mini terminal, built in C</a:t>
            </a:r>
            <a:endParaRPr lang="en-US" sz="2000" dirty="0"/>
          </a:p>
        </p:txBody>
      </p:sp>
      <p:sp>
        <p:nvSpPr>
          <p:cNvPr id="5" name="Shape 3"/>
          <p:cNvSpPr/>
          <p:nvPr/>
        </p:nvSpPr>
        <p:spPr>
          <a:xfrm>
            <a:off x="548640" y="2880360"/>
            <a:ext cx="2011680" cy="384048"/>
          </a:xfrm>
          <a:prstGeom prst="roundRect">
            <a:avLst>
              <a:gd name="adj" fmla="val 50000"/>
            </a:avLst>
          </a:prstGeom>
          <a:solidFill>
            <a:srgbClr val="26A269"/>
          </a:solidFill>
          <a:ln w="12700">
            <a:solidFill>
              <a:srgbClr val="26A269"/>
            </a:solidFill>
            <a:prstDash val="solid"/>
          </a:ln>
        </p:spPr>
      </p:sp>
      <p:sp>
        <p:nvSpPr>
          <p:cNvPr id="6" name="Text 4"/>
          <p:cNvSpPr txBox="1"/>
          <p:nvPr/>
        </p:nvSpPr>
        <p:spPr>
          <a:xfrm>
            <a:off x="548640" y="2880360"/>
            <a:ext cx="20116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80% complete</a:t>
            </a:r>
            <a:endParaRPr lang="en-US" sz="1400" dirty="0"/>
          </a:p>
        </p:txBody>
      </p:sp>
      <p:sp>
        <p:nvSpPr>
          <p:cNvPr id="7" name="Shape 5"/>
          <p:cNvSpPr/>
          <p:nvPr/>
        </p:nvSpPr>
        <p:spPr>
          <a:xfrm>
            <a:off x="5029200" y="1234440"/>
            <a:ext cx="3611880" cy="2514600"/>
          </a:xfrm>
          <a:prstGeom prst="roundRect">
            <a:avLst>
              <a:gd name="adj" fmla="val 2909"/>
            </a:avLst>
          </a:prstGeom>
          <a:solidFill>
            <a:srgbClr val="300A24"/>
          </a:solidFill>
          <a:ln w="12700">
            <a:solidFill>
              <a:srgbClr val="4A1A3E"/>
            </a:solidFill>
            <a:prstDash val="solid"/>
          </a:ln>
          <a:effectLst>
            <a:outerShdw sx="100000" sy="100000" kx="0" ky="0" algn="bl" rotWithShape="0" blurRad="101600" dist="38100" dir="5400000">
              <a:srgbClr val="000000">
                <a:alpha val="35000"/>
              </a:srgbClr>
            </a:outerShdw>
          </a:effectLst>
        </p:spPr>
      </p:sp>
      <p:sp>
        <p:nvSpPr>
          <p:cNvPr id="8" name="Shape 6"/>
          <p:cNvSpPr/>
          <p:nvPr/>
        </p:nvSpPr>
        <p:spPr>
          <a:xfrm>
            <a:off x="5029200" y="1234440"/>
            <a:ext cx="3611880" cy="292608"/>
          </a:xfrm>
          <a:prstGeom prst="roundRect">
            <a:avLst>
              <a:gd name="adj" fmla="val 25000"/>
            </a:avLst>
          </a:prstGeom>
          <a:solidFill>
            <a:srgbClr val="2B2B2B"/>
          </a:solidFill>
          <a:ln w="12700">
            <a:solidFill>
              <a:srgbClr val="2B2B2B"/>
            </a:solidFill>
            <a:prstDash val="solid"/>
          </a:ln>
        </p:spPr>
      </p:sp>
      <p:sp>
        <p:nvSpPr>
          <p:cNvPr id="9" name="Shape 7"/>
          <p:cNvSpPr/>
          <p:nvPr/>
        </p:nvSpPr>
        <p:spPr>
          <a:xfrm>
            <a:off x="5029200" y="1417320"/>
            <a:ext cx="3611880" cy="109728"/>
          </a:xfrm>
          <a:prstGeom prst="rect">
            <a:avLst/>
          </a:prstGeom>
          <a:solidFill>
            <a:srgbClr val="2B2B2B"/>
          </a:solidFill>
          <a:ln w="12700">
            <a:solidFill>
              <a:srgbClr val="2B2B2B"/>
            </a:solidFill>
            <a:prstDash val="solid"/>
          </a:ln>
        </p:spPr>
      </p:sp>
      <p:sp>
        <p:nvSpPr>
          <p:cNvPr id="10" name="Shape 8"/>
          <p:cNvSpPr/>
          <p:nvPr/>
        </p:nvSpPr>
        <p:spPr>
          <a:xfrm>
            <a:off x="8366760" y="1325880"/>
            <a:ext cx="109728" cy="109728"/>
          </a:xfrm>
          <a:prstGeom prst="ellipse">
            <a:avLst/>
          </a:prstGeom>
          <a:solidFill>
            <a:srgbClr val="E95420"/>
          </a:solidFill>
          <a:ln w="12700">
            <a:solidFill>
              <a:srgbClr val="E95420"/>
            </a:solidFill>
            <a:prstDash val="solid"/>
          </a:ln>
        </p:spPr>
      </p:sp>
      <p:sp>
        <p:nvSpPr>
          <p:cNvPr id="11" name="Shape 9"/>
          <p:cNvSpPr/>
          <p:nvPr/>
        </p:nvSpPr>
        <p:spPr>
          <a:xfrm>
            <a:off x="8165592" y="1325880"/>
            <a:ext cx="109728" cy="109728"/>
          </a:xfrm>
          <a:prstGeom prst="ellipse">
            <a:avLst/>
          </a:prstGeom>
          <a:solidFill>
            <a:srgbClr val="8A8A8A"/>
          </a:solidFill>
          <a:ln w="12700">
            <a:solidFill>
              <a:srgbClr val="8A8A8A"/>
            </a:solidFill>
            <a:prstDash val="solid"/>
          </a:ln>
        </p:spPr>
      </p:sp>
      <p:sp>
        <p:nvSpPr>
          <p:cNvPr id="12" name="Shape 10"/>
          <p:cNvSpPr/>
          <p:nvPr/>
        </p:nvSpPr>
        <p:spPr>
          <a:xfrm>
            <a:off x="7964424" y="1325880"/>
            <a:ext cx="109728" cy="109728"/>
          </a:xfrm>
          <a:prstGeom prst="ellipse">
            <a:avLst/>
          </a:prstGeom>
          <a:solidFill>
            <a:srgbClr val="8A8A8A"/>
          </a:solidFill>
          <a:ln w="12700">
            <a:solidFill>
              <a:srgbClr val="8A8A8A"/>
            </a:solidFill>
            <a:prstDash val="solid"/>
          </a:ln>
        </p:spPr>
      </p:sp>
      <p:sp>
        <p:nvSpPr>
          <p:cNvPr id="13" name="Text 11"/>
          <p:cNvSpPr txBox="1"/>
          <p:nvPr/>
        </p:nvSpPr>
        <p:spPr>
          <a:xfrm>
            <a:off x="5029200" y="1252728"/>
            <a:ext cx="3611880" cy="256032"/>
          </a:xfrm>
          <a:prstGeom prst="rect">
            <a:avLst/>
          </a:prstGeom>
          <a:noFill/>
          <a:ln/>
        </p:spPr>
        <p:txBody>
          <a:bodyPr wrap="square" lIns="0" tIns="0" rIns="0" bIns="0" rtlCol="0" anchor="ctr"/>
          <a:lstStyle/>
          <a:p>
            <a:pPr algn="ctr" indent="0" marL="0">
              <a:buNone/>
            </a:pPr>
            <a:r>
              <a:rPr lang="en-US" sz="1000" b="1" dirty="0">
                <a:solidFill>
                  <a:srgbClr val="EEEEEE"/>
                </a:solidFill>
                <a:latin typeface="Calibri" pitchFamily="34" charset="0"/>
                <a:ea typeface="Calibri" pitchFamily="34" charset="-122"/>
                <a:cs typeface="Calibri" pitchFamily="34" charset="-120"/>
              </a:rPr>
              <a:t>user@ubuntu: ~</a:t>
            </a:r>
            <a:endParaRPr lang="en-US" sz="1000" dirty="0"/>
          </a:p>
        </p:txBody>
      </p:sp>
      <p:sp>
        <p:nvSpPr>
          <p:cNvPr id="14" name="Text 12"/>
          <p:cNvSpPr txBox="1"/>
          <p:nvPr/>
        </p:nvSpPr>
        <p:spPr>
          <a:xfrm>
            <a:off x="5166360" y="1618488"/>
            <a:ext cx="3337560" cy="2039112"/>
          </a:xfrm>
          <a:prstGeom prst="rect">
            <a:avLst/>
          </a:prstGeom>
          <a:noFill/>
          <a:ln/>
        </p:spPr>
        <p:txBody>
          <a:bodyPr wrap="square" lIns="0" tIns="0" rIns="0" bIns="0" rtlCol="0" anchor="t"/>
          <a:lstStyle/>
          <a:p>
            <a:pPr indent="0" marL="0">
              <a:buNone/>
            </a:pPr>
            <a:r>
              <a:rPr lang="en-US" sz="1200" b="1" dirty="0">
                <a:solidFill>
                  <a:srgbClr val="33DA7A"/>
                </a:solidFill>
                <a:latin typeface="Courier New" pitchFamily="34" charset="0"/>
                <a:ea typeface="Courier New" pitchFamily="34" charset="-122"/>
                <a:cs typeface="Courier New" pitchFamily="34" charset="-120"/>
              </a:rPr>
              <a:t>user@ubuntu</a:t>
            </a:r>
            <a:pPr indent="0" marL="0">
              <a:buNone/>
            </a:pPr>
            <a:r>
              <a:rPr lang="en-US" sz="1200" dirty="0">
                <a:solidFill>
                  <a:srgbClr val="FFFFFF"/>
                </a:solidFill>
                <a:latin typeface="Courier New" pitchFamily="34" charset="0"/>
                <a:ea typeface="Courier New" pitchFamily="34" charset="-122"/>
                <a:cs typeface="Courier New" pitchFamily="34" charset="-120"/>
              </a:rPr>
              <a:t>:</a:t>
            </a:r>
            <a:pPr indent="0" marL="0">
              <a:buNone/>
            </a:pPr>
            <a:r>
              <a:rPr lang="en-US" sz="1200" b="1" dirty="0">
                <a:solidFill>
                  <a:srgbClr val="2A7BDE"/>
                </a:solidFill>
                <a:latin typeface="Courier New" pitchFamily="34" charset="0"/>
                <a:ea typeface="Courier New" pitchFamily="34" charset="-122"/>
                <a:cs typeface="Courier New" pitchFamily="34" charset="-120"/>
              </a:rPr>
              <a:t>~</a:t>
            </a:r>
            <a:pPr indent="0" marL="0">
              <a:buNone/>
            </a:pPr>
            <a:r>
              <a:rPr lang="en-US" sz="1200" dirty="0">
                <a:solidFill>
                  <a:srgbClr val="FFFFFF"/>
                </a:solidFill>
                <a:latin typeface="Courier New" pitchFamily="34" charset="0"/>
                <a:ea typeface="Courier New" pitchFamily="34" charset="-122"/>
                <a:cs typeface="Courier New" pitchFamily="34" charset="-120"/>
              </a:rPr>
              <a:t>$ mkdir osda</a:t>
            </a:r>
            <a:endParaRPr lang="en-US" sz="1200" dirty="0"/>
          </a:p>
          <a:p>
            <a:pPr indent="0" marL="0">
              <a:buNone/>
            </a:pPr>
            <a:r>
              <a:rPr lang="en-US" sz="1200" b="1" dirty="0">
                <a:solidFill>
                  <a:srgbClr val="33DA7A"/>
                </a:solidFill>
                <a:latin typeface="Courier New" pitchFamily="34" charset="0"/>
                <a:ea typeface="Courier New" pitchFamily="34" charset="-122"/>
                <a:cs typeface="Courier New" pitchFamily="34" charset="-120"/>
              </a:rPr>
              <a:t>user@ubuntu</a:t>
            </a:r>
            <a:pPr indent="0" marL="0">
              <a:buNone/>
            </a:pPr>
            <a:r>
              <a:rPr lang="en-US" sz="1200" dirty="0">
                <a:solidFill>
                  <a:srgbClr val="FFFFFF"/>
                </a:solidFill>
                <a:latin typeface="Courier New" pitchFamily="34" charset="0"/>
                <a:ea typeface="Courier New" pitchFamily="34" charset="-122"/>
                <a:cs typeface="Courier New" pitchFamily="34" charset="-120"/>
              </a:rPr>
              <a:t>:</a:t>
            </a:r>
            <a:pPr indent="0" marL="0">
              <a:buNone/>
            </a:pPr>
            <a:r>
              <a:rPr lang="en-US" sz="1200" b="1" dirty="0">
                <a:solidFill>
                  <a:srgbClr val="2A7BDE"/>
                </a:solidFill>
                <a:latin typeface="Courier New" pitchFamily="34" charset="0"/>
                <a:ea typeface="Courier New" pitchFamily="34" charset="-122"/>
                <a:cs typeface="Courier New" pitchFamily="34" charset="-120"/>
              </a:rPr>
              <a:t>~</a:t>
            </a:r>
            <a:pPr indent="0" marL="0">
              <a:buNone/>
            </a:pPr>
            <a:r>
              <a:rPr lang="en-US" sz="1200" dirty="0">
                <a:solidFill>
                  <a:srgbClr val="FFFFFF"/>
                </a:solidFill>
                <a:latin typeface="Courier New" pitchFamily="34" charset="0"/>
                <a:ea typeface="Courier New" pitchFamily="34" charset="-122"/>
                <a:cs typeface="Courier New" pitchFamily="34" charset="-120"/>
              </a:rPr>
              <a:t>$ gedit h.c</a:t>
            </a:r>
            <a:endParaRPr lang="en-US" sz="1200" dirty="0"/>
          </a:p>
          <a:p>
            <a:pPr indent="0" marL="0">
              <a:buNone/>
            </a:pPr>
            <a:r>
              <a:rPr lang="en-US" sz="1200" b="1" dirty="0">
                <a:solidFill>
                  <a:srgbClr val="33DA7A"/>
                </a:solidFill>
                <a:latin typeface="Courier New" pitchFamily="34" charset="0"/>
                <a:ea typeface="Courier New" pitchFamily="34" charset="-122"/>
                <a:cs typeface="Courier New" pitchFamily="34" charset="-120"/>
              </a:rPr>
              <a:t>user@ubuntu</a:t>
            </a:r>
            <a:pPr indent="0" marL="0">
              <a:buNone/>
            </a:pPr>
            <a:r>
              <a:rPr lang="en-US" sz="1200" dirty="0">
                <a:solidFill>
                  <a:srgbClr val="FFFFFF"/>
                </a:solidFill>
                <a:latin typeface="Courier New" pitchFamily="34" charset="0"/>
                <a:ea typeface="Courier New" pitchFamily="34" charset="-122"/>
                <a:cs typeface="Courier New" pitchFamily="34" charset="-120"/>
              </a:rPr>
              <a:t>:</a:t>
            </a:r>
            <a:pPr indent="0" marL="0">
              <a:buNone/>
            </a:pPr>
            <a:r>
              <a:rPr lang="en-US" sz="1200" b="1" dirty="0">
                <a:solidFill>
                  <a:srgbClr val="2A7BDE"/>
                </a:solidFill>
                <a:latin typeface="Courier New" pitchFamily="34" charset="0"/>
                <a:ea typeface="Courier New" pitchFamily="34" charset="-122"/>
                <a:cs typeface="Courier New" pitchFamily="34" charset="-120"/>
              </a:rPr>
              <a:t>~</a:t>
            </a:r>
            <a:pPr indent="0" marL="0">
              <a:buNone/>
            </a:pPr>
            <a:r>
              <a:rPr lang="en-US" sz="1200" dirty="0">
                <a:solidFill>
                  <a:srgbClr val="FFFFFF"/>
                </a:solidFill>
                <a:latin typeface="Courier New" pitchFamily="34" charset="0"/>
                <a:ea typeface="Courier New" pitchFamily="34" charset="-122"/>
                <a:cs typeface="Courier New" pitchFamily="34" charset="-120"/>
              </a:rPr>
              <a:t>$ gcc h.c</a:t>
            </a:r>
            <a:endParaRPr lang="en-US" sz="1200" dirty="0"/>
          </a:p>
          <a:p>
            <a:pPr indent="0" marL="0">
              <a:buNone/>
            </a:pPr>
            <a:r>
              <a:rPr lang="en-US" sz="1200" b="1" dirty="0">
                <a:solidFill>
                  <a:srgbClr val="33DA7A"/>
                </a:solidFill>
                <a:latin typeface="Courier New" pitchFamily="34" charset="0"/>
                <a:ea typeface="Courier New" pitchFamily="34" charset="-122"/>
                <a:cs typeface="Courier New" pitchFamily="34" charset="-120"/>
              </a:rPr>
              <a:t>user@ubuntu</a:t>
            </a:r>
            <a:pPr indent="0" marL="0">
              <a:buNone/>
            </a:pPr>
            <a:r>
              <a:rPr lang="en-US" sz="1200" dirty="0">
                <a:solidFill>
                  <a:srgbClr val="FFFFFF"/>
                </a:solidFill>
                <a:latin typeface="Courier New" pitchFamily="34" charset="0"/>
                <a:ea typeface="Courier New" pitchFamily="34" charset="-122"/>
                <a:cs typeface="Courier New" pitchFamily="34" charset="-120"/>
              </a:rPr>
              <a:t>:</a:t>
            </a:r>
            <a:pPr indent="0" marL="0">
              <a:buNone/>
            </a:pPr>
            <a:r>
              <a:rPr lang="en-US" sz="1200" b="1" dirty="0">
                <a:solidFill>
                  <a:srgbClr val="2A7BDE"/>
                </a:solidFill>
                <a:latin typeface="Courier New" pitchFamily="34" charset="0"/>
                <a:ea typeface="Courier New" pitchFamily="34" charset="-122"/>
                <a:cs typeface="Courier New" pitchFamily="34" charset="-120"/>
              </a:rPr>
              <a:t>~</a:t>
            </a:r>
            <a:pPr indent="0" marL="0">
              <a:buNone/>
            </a:pPr>
            <a:r>
              <a:rPr lang="en-US" sz="1200" dirty="0">
                <a:solidFill>
                  <a:srgbClr val="FFFFFF"/>
                </a:solidFill>
                <a:latin typeface="Courier New" pitchFamily="34" charset="0"/>
                <a:ea typeface="Courier New" pitchFamily="34" charset="-122"/>
                <a:cs typeface="Courier New" pitchFamily="34" charset="-120"/>
              </a:rPr>
              <a:t>$ ./a.out</a:t>
            </a:r>
            <a:endParaRPr lang="en-US" sz="1200" dirty="0"/>
          </a:p>
          <a:p>
            <a:pPr indent="0" marL="0">
              <a:buNone/>
            </a:pPr>
            <a:r>
              <a:rPr lang="en-US" sz="1200" dirty="0">
                <a:solidFill>
                  <a:srgbClr val="D0CFCC"/>
                </a:solidFill>
                <a:latin typeface="Courier New" pitchFamily="34" charset="0"/>
                <a:ea typeface="Courier New" pitchFamily="34" charset="-122"/>
                <a:cs typeface="Courier New" pitchFamily="34" charset="-120"/>
              </a:rPr>
              <a:t>Enter a number: 7</a:t>
            </a:r>
            <a:endParaRPr lang="en-US" sz="1200" dirty="0"/>
          </a:p>
          <a:p>
            <a:pPr indent="0" marL="0">
              <a:buNone/>
            </a:pPr>
            <a:r>
              <a:rPr lang="en-US" sz="1200" dirty="0">
                <a:solidFill>
                  <a:srgbClr val="D0CFCC"/>
                </a:solidFill>
                <a:latin typeface="Courier New" pitchFamily="34" charset="0"/>
                <a:ea typeface="Courier New" pitchFamily="34" charset="-122"/>
                <a:cs typeface="Courier New" pitchFamily="34" charset="-120"/>
              </a:rPr>
              <a:t>Square of 7 is 49</a:t>
            </a:r>
            <a:endParaRPr lang="en-US" sz="1200" dirty="0"/>
          </a:p>
          <a:p>
            <a:pPr indent="0" marL="0">
              <a:buNone/>
            </a:pPr>
            <a:r>
              <a:rPr lang="en-US" sz="1200" b="1" dirty="0">
                <a:solidFill>
                  <a:srgbClr val="33DA7A"/>
                </a:solidFill>
                <a:latin typeface="Courier New" pitchFamily="34" charset="0"/>
                <a:ea typeface="Courier New" pitchFamily="34" charset="-122"/>
                <a:cs typeface="Courier New" pitchFamily="34" charset="-120"/>
              </a:rPr>
              <a:t>user@ubuntu</a:t>
            </a:r>
            <a:pPr indent="0" marL="0">
              <a:buNone/>
            </a:pPr>
            <a:r>
              <a:rPr lang="en-US" sz="1200" dirty="0">
                <a:solidFill>
                  <a:srgbClr val="FFFFFF"/>
                </a:solidFill>
                <a:latin typeface="Courier New" pitchFamily="34" charset="0"/>
                <a:ea typeface="Courier New" pitchFamily="34" charset="-122"/>
                <a:cs typeface="Courier New" pitchFamily="34" charset="-120"/>
              </a:rPr>
              <a:t>:</a:t>
            </a:r>
            <a:pPr indent="0" marL="0">
              <a:buNone/>
            </a:pPr>
            <a:r>
              <a:rPr lang="en-US" sz="1200" b="1" dirty="0">
                <a:solidFill>
                  <a:srgbClr val="2A7BDE"/>
                </a:solidFill>
                <a:latin typeface="Courier New" pitchFamily="34" charset="0"/>
                <a:ea typeface="Courier New" pitchFamily="34" charset="-122"/>
                <a:cs typeface="Courier New" pitchFamily="34" charset="-120"/>
              </a:rPr>
              <a:t>~</a:t>
            </a:r>
            <a:pPr indent="0" marL="0">
              <a:buNone/>
            </a:pPr>
            <a:r>
              <a:rPr lang="en-US" sz="1200" dirty="0">
                <a:solidFill>
                  <a:srgbClr val="FFFFFF"/>
                </a:solidFill>
                <a:latin typeface="Courier New" pitchFamily="34" charset="0"/>
                <a:ea typeface="Courier New" pitchFamily="34" charset="-122"/>
                <a:cs typeface="Courier New" pitchFamily="34" charset="-120"/>
              </a:rPr>
              <a:t>$ _</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221A20"/>
                </a:solidFill>
                <a:latin typeface="Calibri" pitchFamily="34" charset="0"/>
                <a:ea typeface="Calibri" pitchFamily="34" charset="-122"/>
                <a:cs typeface="Calibri" pitchFamily="34" charset="-120"/>
              </a:rPr>
              <a:t>Agenda</a:t>
            </a:r>
            <a:endParaRPr lang="en-US" sz="3200" dirty="0"/>
          </a:p>
        </p:txBody>
      </p:sp>
      <p:sp>
        <p:nvSpPr>
          <p:cNvPr id="3" name="Shape 1"/>
          <p:cNvSpPr/>
          <p:nvPr/>
        </p:nvSpPr>
        <p:spPr>
          <a:xfrm>
            <a:off x="640080" y="1280160"/>
            <a:ext cx="502920" cy="502920"/>
          </a:xfrm>
          <a:prstGeom prst="ellipse">
            <a:avLst/>
          </a:prstGeom>
          <a:solidFill>
            <a:srgbClr val="E95420"/>
          </a:solidFill>
          <a:ln w="12700">
            <a:solidFill>
              <a:srgbClr val="E95420"/>
            </a:solidFill>
            <a:prstDash val="solid"/>
          </a:ln>
        </p:spPr>
      </p:sp>
      <p:sp>
        <p:nvSpPr>
          <p:cNvPr id="4" name="Text 2"/>
          <p:cNvSpPr txBox="1"/>
          <p:nvPr/>
        </p:nvSpPr>
        <p:spPr>
          <a:xfrm>
            <a:off x="640080" y="1280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325880" y="1280160"/>
            <a:ext cx="3108960" cy="502920"/>
          </a:xfrm>
          <a:prstGeom prst="rect">
            <a:avLst/>
          </a:prstGeom>
          <a:noFill/>
          <a:ln/>
        </p:spPr>
        <p:txBody>
          <a:bodyPr wrap="square" lIns="0" tIns="0" rIns="0" bIns="0" rtlCol="0" anchor="ctr"/>
          <a:lstStyle/>
          <a:p>
            <a:pPr indent="0" marL="0">
              <a:buNone/>
            </a:pPr>
            <a:r>
              <a:rPr lang="en-US" sz="2000" dirty="0">
                <a:solidFill>
                  <a:srgbClr val="221A20"/>
                </a:solidFill>
                <a:latin typeface="Calibri" pitchFamily="34" charset="0"/>
                <a:ea typeface="Calibri" pitchFamily="34" charset="-122"/>
                <a:cs typeface="Calibri" pitchFamily="34" charset="-120"/>
              </a:rPr>
              <a:t>Problem Statement</a:t>
            </a:r>
            <a:endParaRPr lang="en-US" sz="2000" dirty="0"/>
          </a:p>
        </p:txBody>
      </p:sp>
      <p:sp>
        <p:nvSpPr>
          <p:cNvPr id="6" name="Shape 4"/>
          <p:cNvSpPr/>
          <p:nvPr/>
        </p:nvSpPr>
        <p:spPr>
          <a:xfrm>
            <a:off x="640080" y="2103120"/>
            <a:ext cx="502920" cy="502920"/>
          </a:xfrm>
          <a:prstGeom prst="ellipse">
            <a:avLst/>
          </a:prstGeom>
          <a:solidFill>
            <a:srgbClr val="E95420"/>
          </a:solidFill>
          <a:ln w="12700">
            <a:solidFill>
              <a:srgbClr val="E95420"/>
            </a:solidFill>
            <a:prstDash val="solid"/>
          </a:ln>
        </p:spPr>
      </p:sp>
      <p:sp>
        <p:nvSpPr>
          <p:cNvPr id="7" name="Text 5"/>
          <p:cNvSpPr txBox="1"/>
          <p:nvPr/>
        </p:nvSpPr>
        <p:spPr>
          <a:xfrm>
            <a:off x="640080"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txBox="1"/>
          <p:nvPr/>
        </p:nvSpPr>
        <p:spPr>
          <a:xfrm>
            <a:off x="1325880" y="2103120"/>
            <a:ext cx="3108960" cy="502920"/>
          </a:xfrm>
          <a:prstGeom prst="rect">
            <a:avLst/>
          </a:prstGeom>
          <a:noFill/>
          <a:ln/>
        </p:spPr>
        <p:txBody>
          <a:bodyPr wrap="square" lIns="0" tIns="0" rIns="0" bIns="0" rtlCol="0" anchor="ctr"/>
          <a:lstStyle/>
          <a:p>
            <a:pPr indent="0" marL="0">
              <a:buNone/>
            </a:pPr>
            <a:r>
              <a:rPr lang="en-US" sz="2000" dirty="0">
                <a:solidFill>
                  <a:srgbClr val="221A20"/>
                </a:solidFill>
                <a:latin typeface="Calibri" pitchFamily="34" charset="0"/>
                <a:ea typeface="Calibri" pitchFamily="34" charset="-122"/>
                <a:cs typeface="Calibri" pitchFamily="34" charset="-120"/>
              </a:rPr>
              <a:t>Our Solution</a:t>
            </a:r>
            <a:endParaRPr lang="en-US" sz="2000" dirty="0"/>
          </a:p>
        </p:txBody>
      </p:sp>
      <p:sp>
        <p:nvSpPr>
          <p:cNvPr id="9" name="Shape 7"/>
          <p:cNvSpPr/>
          <p:nvPr/>
        </p:nvSpPr>
        <p:spPr>
          <a:xfrm>
            <a:off x="640080" y="2926080"/>
            <a:ext cx="502920" cy="502920"/>
          </a:xfrm>
          <a:prstGeom prst="ellipse">
            <a:avLst/>
          </a:prstGeom>
          <a:solidFill>
            <a:srgbClr val="E95420"/>
          </a:solidFill>
          <a:ln w="12700">
            <a:solidFill>
              <a:srgbClr val="E95420"/>
            </a:solidFill>
            <a:prstDash val="solid"/>
          </a:ln>
        </p:spPr>
      </p:sp>
      <p:sp>
        <p:nvSpPr>
          <p:cNvPr id="10" name="Text 8"/>
          <p:cNvSpPr txBox="1"/>
          <p:nvPr/>
        </p:nvSpPr>
        <p:spPr>
          <a:xfrm>
            <a:off x="640080" y="29260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txBox="1"/>
          <p:nvPr/>
        </p:nvSpPr>
        <p:spPr>
          <a:xfrm>
            <a:off x="1325880" y="2926080"/>
            <a:ext cx="3108960" cy="502920"/>
          </a:xfrm>
          <a:prstGeom prst="rect">
            <a:avLst/>
          </a:prstGeom>
          <a:noFill/>
          <a:ln/>
        </p:spPr>
        <p:txBody>
          <a:bodyPr wrap="square" lIns="0" tIns="0" rIns="0" bIns="0" rtlCol="0" anchor="ctr"/>
          <a:lstStyle/>
          <a:p>
            <a:pPr indent="0" marL="0">
              <a:buNone/>
            </a:pPr>
            <a:r>
              <a:rPr lang="en-US" sz="2000" dirty="0">
                <a:solidFill>
                  <a:srgbClr val="221A20"/>
                </a:solidFill>
                <a:latin typeface="Calibri" pitchFamily="34" charset="0"/>
                <a:ea typeface="Calibri" pitchFamily="34" charset="-122"/>
                <a:cs typeface="Calibri" pitchFamily="34" charset="-120"/>
              </a:rPr>
              <a:t>Tech Stack</a:t>
            </a:r>
            <a:endParaRPr lang="en-US" sz="2000" dirty="0"/>
          </a:p>
        </p:txBody>
      </p:sp>
      <p:sp>
        <p:nvSpPr>
          <p:cNvPr id="12" name="Shape 10"/>
          <p:cNvSpPr/>
          <p:nvPr/>
        </p:nvSpPr>
        <p:spPr>
          <a:xfrm>
            <a:off x="640080" y="3749040"/>
            <a:ext cx="502920" cy="502920"/>
          </a:xfrm>
          <a:prstGeom prst="ellipse">
            <a:avLst/>
          </a:prstGeom>
          <a:solidFill>
            <a:srgbClr val="E95420"/>
          </a:solidFill>
          <a:ln w="12700">
            <a:solidFill>
              <a:srgbClr val="E95420"/>
            </a:solidFill>
            <a:prstDash val="solid"/>
          </a:ln>
        </p:spPr>
      </p:sp>
      <p:sp>
        <p:nvSpPr>
          <p:cNvPr id="13" name="Text 11"/>
          <p:cNvSpPr txBox="1"/>
          <p:nvPr/>
        </p:nvSpPr>
        <p:spPr>
          <a:xfrm>
            <a:off x="640080" y="3749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txBox="1"/>
          <p:nvPr/>
        </p:nvSpPr>
        <p:spPr>
          <a:xfrm>
            <a:off x="1325880" y="3749040"/>
            <a:ext cx="3108960" cy="502920"/>
          </a:xfrm>
          <a:prstGeom prst="rect">
            <a:avLst/>
          </a:prstGeom>
          <a:noFill/>
          <a:ln/>
        </p:spPr>
        <p:txBody>
          <a:bodyPr wrap="square" lIns="0" tIns="0" rIns="0" bIns="0" rtlCol="0" anchor="ctr"/>
          <a:lstStyle/>
          <a:p>
            <a:pPr indent="0" marL="0">
              <a:buNone/>
            </a:pPr>
            <a:r>
              <a:rPr lang="en-US" sz="2000" dirty="0">
                <a:solidFill>
                  <a:srgbClr val="221A20"/>
                </a:solidFill>
                <a:latin typeface="Calibri" pitchFamily="34" charset="0"/>
                <a:ea typeface="Calibri" pitchFamily="34" charset="-122"/>
                <a:cs typeface="Calibri" pitchFamily="34" charset="-120"/>
              </a:rPr>
              <a:t>How We Built It</a:t>
            </a:r>
            <a:endParaRPr lang="en-US" sz="2000" dirty="0"/>
          </a:p>
        </p:txBody>
      </p:sp>
      <p:sp>
        <p:nvSpPr>
          <p:cNvPr id="15" name="Shape 13"/>
          <p:cNvSpPr/>
          <p:nvPr/>
        </p:nvSpPr>
        <p:spPr>
          <a:xfrm>
            <a:off x="4754880" y="1280160"/>
            <a:ext cx="502920" cy="502920"/>
          </a:xfrm>
          <a:prstGeom prst="ellipse">
            <a:avLst/>
          </a:prstGeom>
          <a:solidFill>
            <a:srgbClr val="E95420"/>
          </a:solidFill>
          <a:ln w="12700">
            <a:solidFill>
              <a:srgbClr val="E95420"/>
            </a:solidFill>
            <a:prstDash val="solid"/>
          </a:ln>
        </p:spPr>
      </p:sp>
      <p:sp>
        <p:nvSpPr>
          <p:cNvPr id="16" name="Text 14"/>
          <p:cNvSpPr txBox="1"/>
          <p:nvPr/>
        </p:nvSpPr>
        <p:spPr>
          <a:xfrm>
            <a:off x="4754880" y="1280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7" name="Text 15"/>
          <p:cNvSpPr txBox="1"/>
          <p:nvPr/>
        </p:nvSpPr>
        <p:spPr>
          <a:xfrm>
            <a:off x="5440680" y="1280160"/>
            <a:ext cx="3108960" cy="502920"/>
          </a:xfrm>
          <a:prstGeom prst="rect">
            <a:avLst/>
          </a:prstGeom>
          <a:noFill/>
          <a:ln/>
        </p:spPr>
        <p:txBody>
          <a:bodyPr wrap="square" lIns="0" tIns="0" rIns="0" bIns="0" rtlCol="0" anchor="ctr"/>
          <a:lstStyle/>
          <a:p>
            <a:pPr indent="0" marL="0">
              <a:buNone/>
            </a:pPr>
            <a:r>
              <a:rPr lang="en-US" sz="2000" dirty="0">
                <a:solidFill>
                  <a:srgbClr val="221A20"/>
                </a:solidFill>
                <a:latin typeface="Calibri" pitchFamily="34" charset="0"/>
                <a:ea typeface="Calibri" pitchFamily="34" charset="-122"/>
                <a:cs typeface="Calibri" pitchFamily="34" charset="-120"/>
              </a:rPr>
              <a:t>What Works Today</a:t>
            </a:r>
            <a:endParaRPr lang="en-US" sz="2000" dirty="0"/>
          </a:p>
        </p:txBody>
      </p:sp>
      <p:sp>
        <p:nvSpPr>
          <p:cNvPr id="18" name="Shape 16"/>
          <p:cNvSpPr/>
          <p:nvPr/>
        </p:nvSpPr>
        <p:spPr>
          <a:xfrm>
            <a:off x="4754880" y="2103120"/>
            <a:ext cx="502920" cy="502920"/>
          </a:xfrm>
          <a:prstGeom prst="ellipse">
            <a:avLst/>
          </a:prstGeom>
          <a:solidFill>
            <a:srgbClr val="E95420"/>
          </a:solidFill>
          <a:ln w="12700">
            <a:solidFill>
              <a:srgbClr val="E95420"/>
            </a:solidFill>
            <a:prstDash val="solid"/>
          </a:ln>
        </p:spPr>
      </p:sp>
      <p:sp>
        <p:nvSpPr>
          <p:cNvPr id="19" name="Text 17"/>
          <p:cNvSpPr txBox="1"/>
          <p:nvPr/>
        </p:nvSpPr>
        <p:spPr>
          <a:xfrm>
            <a:off x="4754880"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0" name="Text 18"/>
          <p:cNvSpPr txBox="1"/>
          <p:nvPr/>
        </p:nvSpPr>
        <p:spPr>
          <a:xfrm>
            <a:off x="5440680" y="2103120"/>
            <a:ext cx="3108960" cy="502920"/>
          </a:xfrm>
          <a:prstGeom prst="rect">
            <a:avLst/>
          </a:prstGeom>
          <a:noFill/>
          <a:ln/>
        </p:spPr>
        <p:txBody>
          <a:bodyPr wrap="square" lIns="0" tIns="0" rIns="0" bIns="0" rtlCol="0" anchor="ctr"/>
          <a:lstStyle/>
          <a:p>
            <a:pPr indent="0" marL="0">
              <a:buNone/>
            </a:pPr>
            <a:r>
              <a:rPr lang="en-US" sz="2000" dirty="0">
                <a:solidFill>
                  <a:srgbClr val="221A20"/>
                </a:solidFill>
                <a:latin typeface="Calibri" pitchFamily="34" charset="0"/>
                <a:ea typeface="Calibri" pitchFamily="34" charset="-122"/>
                <a:cs typeface="Calibri" pitchFamily="34" charset="-120"/>
              </a:rPr>
              <a:t>Plan for the Last 20%</a:t>
            </a:r>
            <a:endParaRPr lang="en-US" sz="2000" dirty="0"/>
          </a:p>
        </p:txBody>
      </p:sp>
      <p:sp>
        <p:nvSpPr>
          <p:cNvPr id="21" name="Shape 19"/>
          <p:cNvSpPr/>
          <p:nvPr/>
        </p:nvSpPr>
        <p:spPr>
          <a:xfrm>
            <a:off x="4754880" y="2926080"/>
            <a:ext cx="502920" cy="502920"/>
          </a:xfrm>
          <a:prstGeom prst="ellipse">
            <a:avLst/>
          </a:prstGeom>
          <a:solidFill>
            <a:srgbClr val="2C0A22"/>
          </a:solidFill>
          <a:ln w="12700">
            <a:solidFill>
              <a:srgbClr val="2C0A22"/>
            </a:solidFill>
            <a:prstDash val="solid"/>
          </a:ln>
        </p:spPr>
      </p:sp>
      <p:sp>
        <p:nvSpPr>
          <p:cNvPr id="22" name="Text 20"/>
          <p:cNvSpPr txBox="1"/>
          <p:nvPr/>
        </p:nvSpPr>
        <p:spPr>
          <a:xfrm>
            <a:off x="4754880" y="29260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23" name="Text 21"/>
          <p:cNvSpPr txBox="1"/>
          <p:nvPr/>
        </p:nvSpPr>
        <p:spPr>
          <a:xfrm>
            <a:off x="5440680" y="2926080"/>
            <a:ext cx="3108960" cy="502920"/>
          </a:xfrm>
          <a:prstGeom prst="rect">
            <a:avLst/>
          </a:prstGeom>
          <a:noFill/>
          <a:ln/>
        </p:spPr>
        <p:txBody>
          <a:bodyPr wrap="square" lIns="0" tIns="0" rIns="0" bIns="0" rtlCol="0" anchor="ctr"/>
          <a:lstStyle/>
          <a:p>
            <a:pPr indent="0" marL="0">
              <a:buNone/>
            </a:pPr>
            <a:r>
              <a:rPr lang="en-US" sz="2000" dirty="0">
                <a:solidFill>
                  <a:srgbClr val="221A20"/>
                </a:solidFill>
                <a:latin typeface="Calibri" pitchFamily="34" charset="0"/>
                <a:ea typeface="Calibri" pitchFamily="34" charset="-122"/>
                <a:cs typeface="Calibri" pitchFamily="34" charset="-120"/>
              </a:rPr>
              <a:t>Conclusion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221A20"/>
                </a:solidFill>
                <a:latin typeface="Calibri" pitchFamily="34" charset="0"/>
                <a:ea typeface="Calibri" pitchFamily="34" charset="-122"/>
                <a:cs typeface="Calibri" pitchFamily="34" charset="-120"/>
              </a:rPr>
              <a:t>The Problem</a:t>
            </a:r>
            <a:endParaRPr lang="en-US" sz="3200" dirty="0"/>
          </a:p>
        </p:txBody>
      </p:sp>
      <p:sp>
        <p:nvSpPr>
          <p:cNvPr id="3" name="Text 1"/>
          <p:cNvSpPr txBox="1"/>
          <p:nvPr/>
        </p:nvSpPr>
        <p:spPr>
          <a:xfrm>
            <a:off x="457200" y="1005840"/>
            <a:ext cx="8229600" cy="457200"/>
          </a:xfrm>
          <a:prstGeom prst="rect">
            <a:avLst/>
          </a:prstGeom>
          <a:noFill/>
          <a:ln/>
        </p:spPr>
        <p:txBody>
          <a:bodyPr wrap="square" lIns="0" tIns="0" rIns="0" bIns="0" rtlCol="0" anchor="ctr"/>
          <a:lstStyle/>
          <a:p>
            <a:pPr indent="0" marL="0">
              <a:buNone/>
            </a:pPr>
            <a:r>
              <a:rPr lang="en-US" sz="1700" i="1" dirty="0">
                <a:solidFill>
                  <a:srgbClr val="6B6168"/>
                </a:solidFill>
                <a:latin typeface="Calibri" pitchFamily="34" charset="0"/>
                <a:ea typeface="Calibri" pitchFamily="34" charset="-122"/>
                <a:cs typeface="Calibri" pitchFamily="34" charset="-120"/>
              </a:rPr>
              <a:t>We need to practise Linux commands, but not everyone has Linux.</a:t>
            </a:r>
            <a:endParaRPr lang="en-US" sz="1700" dirty="0"/>
          </a:p>
        </p:txBody>
      </p:sp>
      <p:sp>
        <p:nvSpPr>
          <p:cNvPr id="4" name="Shape 2"/>
          <p:cNvSpPr/>
          <p:nvPr/>
        </p:nvSpPr>
        <p:spPr>
          <a:xfrm>
            <a:off x="457200" y="1691640"/>
            <a:ext cx="8229600" cy="868680"/>
          </a:xfrm>
          <a:prstGeom prst="roundRect">
            <a:avLst>
              <a:gd name="adj" fmla="val 10526"/>
            </a:avLst>
          </a:prstGeom>
          <a:solidFill>
            <a:srgbClr val="F6F3F5"/>
          </a:solidFill>
          <a:ln w="12700">
            <a:solidFill>
              <a:srgbClr val="F6F3F5"/>
            </a:solidFill>
            <a:prstDash val="solid"/>
          </a:ln>
        </p:spPr>
      </p:sp>
      <p:sp>
        <p:nvSpPr>
          <p:cNvPr id="5" name="Shape 3"/>
          <p:cNvSpPr/>
          <p:nvPr/>
        </p:nvSpPr>
        <p:spPr>
          <a:xfrm>
            <a:off x="685800" y="1847088"/>
            <a:ext cx="548640" cy="548640"/>
          </a:xfrm>
          <a:prstGeom prst="ellipse">
            <a:avLst/>
          </a:prstGeom>
          <a:solidFill>
            <a:srgbClr val="E95420"/>
          </a:solidFill>
          <a:ln w="12700">
            <a:solidFill>
              <a:srgbClr val="E95420"/>
            </a:solidFill>
            <a:prstDash val="solid"/>
          </a:ln>
        </p:spPr>
      </p:sp>
      <p:pic>
        <p:nvPicPr>
          <p:cNvPr id="6" name="Image 0" descr="preencoded.png">    </p:cNvPr>
          <p:cNvPicPr>
            <a:picLocks noChangeAspect="1"/>
          </p:cNvPicPr>
          <p:nvPr/>
        </p:nvPicPr>
        <p:blipFill>
          <a:blip r:embed="rId1"/>
          <a:stretch>
            <a:fillRect/>
          </a:stretch>
        </p:blipFill>
        <p:spPr>
          <a:xfrm>
            <a:off x="822960" y="1984248"/>
            <a:ext cx="274320" cy="274320"/>
          </a:xfrm>
          <a:prstGeom prst="rect">
            <a:avLst/>
          </a:prstGeom>
        </p:spPr>
      </p:pic>
      <p:sp>
        <p:nvSpPr>
          <p:cNvPr id="7" name="Text 4"/>
          <p:cNvSpPr txBox="1"/>
          <p:nvPr/>
        </p:nvSpPr>
        <p:spPr>
          <a:xfrm>
            <a:off x="1463040" y="1783080"/>
            <a:ext cx="6949440" cy="320040"/>
          </a:xfrm>
          <a:prstGeom prst="rect">
            <a:avLst/>
          </a:prstGeom>
          <a:noFill/>
          <a:ln/>
        </p:spPr>
        <p:txBody>
          <a:bodyPr wrap="square" lIns="0" tIns="0" rIns="0" bIns="0" rtlCol="0" anchor="ctr"/>
          <a:lstStyle/>
          <a:p>
            <a:pPr indent="0" marL="0">
              <a:buNone/>
            </a:pPr>
            <a:r>
              <a:rPr lang="en-US" sz="1700" b="1" dirty="0">
                <a:solidFill>
                  <a:srgbClr val="221A20"/>
                </a:solidFill>
                <a:latin typeface="Calibri" pitchFamily="34" charset="0"/>
                <a:ea typeface="Calibri" pitchFamily="34" charset="-122"/>
                <a:cs typeface="Calibri" pitchFamily="34" charset="-120"/>
              </a:rPr>
              <a:t>No Linux on our laptops</a:t>
            </a:r>
            <a:endParaRPr lang="en-US" sz="1700" dirty="0"/>
          </a:p>
        </p:txBody>
      </p:sp>
      <p:sp>
        <p:nvSpPr>
          <p:cNvPr id="8" name="Text 5"/>
          <p:cNvSpPr txBox="1"/>
          <p:nvPr/>
        </p:nvSpPr>
        <p:spPr>
          <a:xfrm>
            <a:off x="1463040" y="2121408"/>
            <a:ext cx="6949440" cy="347472"/>
          </a:xfrm>
          <a:prstGeom prst="rect">
            <a:avLst/>
          </a:prstGeom>
          <a:noFill/>
          <a:ln/>
        </p:spPr>
        <p:txBody>
          <a:bodyPr wrap="square" lIns="0" tIns="0" rIns="0" bIns="0" rtlCol="0" anchor="ctr"/>
          <a:lstStyle/>
          <a:p>
            <a:pPr indent="0" marL="0">
              <a:buNone/>
            </a:pPr>
            <a:r>
              <a:rPr lang="en-US" sz="1400" dirty="0">
                <a:solidFill>
                  <a:srgbClr val="6B6168"/>
                </a:solidFill>
                <a:latin typeface="Calibri" pitchFamily="34" charset="0"/>
                <a:ea typeface="Calibri" pitchFamily="34" charset="-122"/>
                <a:cs typeface="Calibri" pitchFamily="34" charset="-120"/>
              </a:rPr>
              <a:t>Many of us use a Mac or Windows. Installing Linux or dual booting is difficult and risky.</a:t>
            </a:r>
            <a:endParaRPr lang="en-US" sz="1400" dirty="0"/>
          </a:p>
        </p:txBody>
      </p:sp>
      <p:sp>
        <p:nvSpPr>
          <p:cNvPr id="9" name="Shape 6"/>
          <p:cNvSpPr/>
          <p:nvPr/>
        </p:nvSpPr>
        <p:spPr>
          <a:xfrm>
            <a:off x="457200" y="2743200"/>
            <a:ext cx="8229600" cy="868680"/>
          </a:xfrm>
          <a:prstGeom prst="roundRect">
            <a:avLst>
              <a:gd name="adj" fmla="val 10526"/>
            </a:avLst>
          </a:prstGeom>
          <a:solidFill>
            <a:srgbClr val="F6F3F5"/>
          </a:solidFill>
          <a:ln w="12700">
            <a:solidFill>
              <a:srgbClr val="F6F3F5"/>
            </a:solidFill>
            <a:prstDash val="solid"/>
          </a:ln>
        </p:spPr>
      </p:sp>
      <p:sp>
        <p:nvSpPr>
          <p:cNvPr id="10" name="Shape 7"/>
          <p:cNvSpPr/>
          <p:nvPr/>
        </p:nvSpPr>
        <p:spPr>
          <a:xfrm>
            <a:off x="685800" y="2898648"/>
            <a:ext cx="548640" cy="548640"/>
          </a:xfrm>
          <a:prstGeom prst="ellipse">
            <a:avLst/>
          </a:prstGeom>
          <a:solidFill>
            <a:srgbClr val="E95420"/>
          </a:solidFill>
          <a:ln w="12700">
            <a:solidFill>
              <a:srgbClr val="E95420"/>
            </a:solidFill>
            <a:prstDash val="solid"/>
          </a:ln>
        </p:spPr>
      </p:sp>
      <p:pic>
        <p:nvPicPr>
          <p:cNvPr id="11" name="Image 1" descr="preencoded.png">    </p:cNvPr>
          <p:cNvPicPr>
            <a:picLocks noChangeAspect="1"/>
          </p:cNvPicPr>
          <p:nvPr/>
        </p:nvPicPr>
        <p:blipFill>
          <a:blip r:embed="rId2"/>
          <a:stretch>
            <a:fillRect/>
          </a:stretch>
        </p:blipFill>
        <p:spPr>
          <a:xfrm>
            <a:off x="822960" y="3035808"/>
            <a:ext cx="274320" cy="274320"/>
          </a:xfrm>
          <a:prstGeom prst="rect">
            <a:avLst/>
          </a:prstGeom>
        </p:spPr>
      </p:pic>
      <p:sp>
        <p:nvSpPr>
          <p:cNvPr id="12" name="Text 8"/>
          <p:cNvSpPr txBox="1"/>
          <p:nvPr/>
        </p:nvSpPr>
        <p:spPr>
          <a:xfrm>
            <a:off x="1463040" y="2834640"/>
            <a:ext cx="6949440" cy="320040"/>
          </a:xfrm>
          <a:prstGeom prst="rect">
            <a:avLst/>
          </a:prstGeom>
          <a:noFill/>
          <a:ln/>
        </p:spPr>
        <p:txBody>
          <a:bodyPr wrap="square" lIns="0" tIns="0" rIns="0" bIns="0" rtlCol="0" anchor="ctr"/>
          <a:lstStyle/>
          <a:p>
            <a:pPr indent="0" marL="0">
              <a:buNone/>
            </a:pPr>
            <a:r>
              <a:rPr lang="en-US" sz="1700" b="1" dirty="0">
                <a:solidFill>
                  <a:srgbClr val="221A20"/>
                </a:solidFill>
                <a:latin typeface="Calibri" pitchFamily="34" charset="0"/>
                <a:ea typeface="Calibri" pitchFamily="34" charset="-122"/>
                <a:cs typeface="Calibri" pitchFamily="34" charset="-120"/>
              </a:rPr>
              <a:t>We can only practise in the lab</a:t>
            </a:r>
            <a:endParaRPr lang="en-US" sz="1700" dirty="0"/>
          </a:p>
        </p:txBody>
      </p:sp>
      <p:sp>
        <p:nvSpPr>
          <p:cNvPr id="13" name="Text 9"/>
          <p:cNvSpPr txBox="1"/>
          <p:nvPr/>
        </p:nvSpPr>
        <p:spPr>
          <a:xfrm>
            <a:off x="1463040" y="3172968"/>
            <a:ext cx="6949440" cy="347472"/>
          </a:xfrm>
          <a:prstGeom prst="rect">
            <a:avLst/>
          </a:prstGeom>
          <a:noFill/>
          <a:ln/>
        </p:spPr>
        <p:txBody>
          <a:bodyPr wrap="square" lIns="0" tIns="0" rIns="0" bIns="0" rtlCol="0" anchor="ctr"/>
          <a:lstStyle/>
          <a:p>
            <a:pPr indent="0" marL="0">
              <a:buNone/>
            </a:pPr>
            <a:r>
              <a:rPr lang="en-US" sz="1400" dirty="0">
                <a:solidFill>
                  <a:srgbClr val="6B6168"/>
                </a:solidFill>
                <a:latin typeface="Calibri" pitchFamily="34" charset="0"/>
                <a:ea typeface="Calibri" pitchFamily="34" charset="-122"/>
                <a:cs typeface="Calibri" pitchFamily="34" charset="-120"/>
              </a:rPr>
              <a:t>Our OS course uses Linux commands, but we only get to try them during lab hours.</a:t>
            </a:r>
            <a:endParaRPr lang="en-US" sz="1400" dirty="0"/>
          </a:p>
        </p:txBody>
      </p:sp>
      <p:sp>
        <p:nvSpPr>
          <p:cNvPr id="14" name="Shape 10"/>
          <p:cNvSpPr/>
          <p:nvPr/>
        </p:nvSpPr>
        <p:spPr>
          <a:xfrm>
            <a:off x="457200" y="3794760"/>
            <a:ext cx="8229600" cy="868680"/>
          </a:xfrm>
          <a:prstGeom prst="roundRect">
            <a:avLst>
              <a:gd name="adj" fmla="val 10526"/>
            </a:avLst>
          </a:prstGeom>
          <a:solidFill>
            <a:srgbClr val="F6F3F5"/>
          </a:solidFill>
          <a:ln w="12700">
            <a:solidFill>
              <a:srgbClr val="F6F3F5"/>
            </a:solidFill>
            <a:prstDash val="solid"/>
          </a:ln>
        </p:spPr>
      </p:sp>
      <p:sp>
        <p:nvSpPr>
          <p:cNvPr id="15" name="Shape 11"/>
          <p:cNvSpPr/>
          <p:nvPr/>
        </p:nvSpPr>
        <p:spPr>
          <a:xfrm>
            <a:off x="685800" y="3950208"/>
            <a:ext cx="548640" cy="548640"/>
          </a:xfrm>
          <a:prstGeom prst="ellipse">
            <a:avLst/>
          </a:prstGeom>
          <a:solidFill>
            <a:srgbClr val="E95420"/>
          </a:solidFill>
          <a:ln w="12700">
            <a:solidFill>
              <a:srgbClr val="E95420"/>
            </a:solidFill>
            <a:prstDash val="solid"/>
          </a:ln>
        </p:spPr>
      </p:sp>
      <p:pic>
        <p:nvPicPr>
          <p:cNvPr id="16" name="Image 2" descr="preencoded.png">    </p:cNvPr>
          <p:cNvPicPr>
            <a:picLocks noChangeAspect="1"/>
          </p:cNvPicPr>
          <p:nvPr/>
        </p:nvPicPr>
        <p:blipFill>
          <a:blip r:embed="rId3"/>
          <a:stretch>
            <a:fillRect/>
          </a:stretch>
        </p:blipFill>
        <p:spPr>
          <a:xfrm>
            <a:off x="822960" y="4087368"/>
            <a:ext cx="274320" cy="274320"/>
          </a:xfrm>
          <a:prstGeom prst="rect">
            <a:avLst/>
          </a:prstGeom>
        </p:spPr>
      </p:pic>
      <p:sp>
        <p:nvSpPr>
          <p:cNvPr id="17" name="Text 12"/>
          <p:cNvSpPr txBox="1"/>
          <p:nvPr/>
        </p:nvSpPr>
        <p:spPr>
          <a:xfrm>
            <a:off x="1463040" y="3886200"/>
            <a:ext cx="6949440" cy="320040"/>
          </a:xfrm>
          <a:prstGeom prst="rect">
            <a:avLst/>
          </a:prstGeom>
          <a:noFill/>
          <a:ln/>
        </p:spPr>
        <p:txBody>
          <a:bodyPr wrap="square" lIns="0" tIns="0" rIns="0" bIns="0" rtlCol="0" anchor="ctr"/>
          <a:lstStyle/>
          <a:p>
            <a:pPr indent="0" marL="0">
              <a:buNone/>
            </a:pPr>
            <a:r>
              <a:rPr lang="en-US" sz="1700" b="1" dirty="0">
                <a:solidFill>
                  <a:srgbClr val="221A20"/>
                </a:solidFill>
                <a:latin typeface="Calibri" pitchFamily="34" charset="0"/>
                <a:ea typeface="Calibri" pitchFamily="34" charset="-122"/>
                <a:cs typeface="Calibri" pitchFamily="34" charset="-120"/>
              </a:rPr>
              <a:t>Beginners are nervous to switch</a:t>
            </a:r>
            <a:endParaRPr lang="en-US" sz="1700" dirty="0"/>
          </a:p>
        </p:txBody>
      </p:sp>
      <p:sp>
        <p:nvSpPr>
          <p:cNvPr id="18" name="Text 13"/>
          <p:cNvSpPr txBox="1"/>
          <p:nvPr/>
        </p:nvSpPr>
        <p:spPr>
          <a:xfrm>
            <a:off x="1463040" y="4224528"/>
            <a:ext cx="6949440" cy="347472"/>
          </a:xfrm>
          <a:prstGeom prst="rect">
            <a:avLst/>
          </a:prstGeom>
          <a:noFill/>
          <a:ln/>
        </p:spPr>
        <p:txBody>
          <a:bodyPr wrap="square" lIns="0" tIns="0" rIns="0" bIns="0" rtlCol="0" anchor="ctr"/>
          <a:lstStyle/>
          <a:p>
            <a:pPr indent="0" marL="0">
              <a:buNone/>
            </a:pPr>
            <a:r>
              <a:rPr lang="en-US" sz="1400" dirty="0">
                <a:solidFill>
                  <a:srgbClr val="6B6168"/>
                </a:solidFill>
                <a:latin typeface="Calibri" pitchFamily="34" charset="0"/>
                <a:ea typeface="Calibri" pitchFamily="34" charset="-122"/>
                <a:cs typeface="Calibri" pitchFamily="34" charset="-120"/>
              </a:rPr>
              <a:t>People don't want to move to Linux before they know the basic commands.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221A20"/>
                </a:solidFill>
                <a:latin typeface="Calibri" pitchFamily="34" charset="0"/>
                <a:ea typeface="Calibri" pitchFamily="34" charset="-122"/>
                <a:cs typeface="Calibri" pitchFamily="34" charset="-120"/>
              </a:rPr>
              <a:t>Our Solution: MiniShell++</a:t>
            </a:r>
            <a:endParaRPr lang="en-US" sz="3200" dirty="0"/>
          </a:p>
        </p:txBody>
      </p:sp>
      <p:sp>
        <p:nvSpPr>
          <p:cNvPr id="3" name="Text 1"/>
          <p:cNvSpPr txBox="1"/>
          <p:nvPr/>
        </p:nvSpPr>
        <p:spPr>
          <a:xfrm>
            <a:off x="457200" y="960120"/>
            <a:ext cx="8229600" cy="548640"/>
          </a:xfrm>
          <a:prstGeom prst="rect">
            <a:avLst/>
          </a:prstGeom>
          <a:noFill/>
          <a:ln/>
        </p:spPr>
        <p:txBody>
          <a:bodyPr wrap="square" lIns="0" tIns="0" rIns="0" bIns="0" rtlCol="0" anchor="ctr"/>
          <a:lstStyle/>
          <a:p>
            <a:pPr indent="0" marL="0">
              <a:buNone/>
            </a:pPr>
            <a:r>
              <a:rPr lang="en-US" sz="1600" dirty="0">
                <a:solidFill>
                  <a:srgbClr val="6B6168"/>
                </a:solidFill>
                <a:latin typeface="Calibri" pitchFamily="34" charset="0"/>
                <a:ea typeface="Calibri" pitchFamily="34" charset="-122"/>
                <a:cs typeface="Calibri" pitchFamily="34" charset="-120"/>
              </a:rPr>
              <a:t>Practise Linux commands right in your web browser: same commands, same outputs, with no Linux install and no dual boot. We built it ourselves in C.</a:t>
            </a:r>
            <a:endParaRPr lang="en-US" sz="1600" dirty="0"/>
          </a:p>
        </p:txBody>
      </p:sp>
      <p:sp>
        <p:nvSpPr>
          <p:cNvPr id="4" name="Shape 2"/>
          <p:cNvSpPr/>
          <p:nvPr/>
        </p:nvSpPr>
        <p:spPr>
          <a:xfrm>
            <a:off x="457200" y="1737360"/>
            <a:ext cx="2606040" cy="1417320"/>
          </a:xfrm>
          <a:prstGeom prst="roundRect">
            <a:avLst>
              <a:gd name="adj" fmla="val 6452"/>
            </a:avLst>
          </a:prstGeom>
          <a:solidFill>
            <a:srgbClr val="F6F3F5"/>
          </a:solidFill>
          <a:ln w="12700">
            <a:solidFill>
              <a:srgbClr val="F6F3F5"/>
            </a:solidFill>
            <a:prstDash val="solid"/>
          </a:ln>
        </p:spPr>
      </p:sp>
      <p:sp>
        <p:nvSpPr>
          <p:cNvPr id="5" name="Shape 3"/>
          <p:cNvSpPr/>
          <p:nvPr/>
        </p:nvSpPr>
        <p:spPr>
          <a:xfrm>
            <a:off x="685800" y="1965960"/>
            <a:ext cx="502920" cy="502920"/>
          </a:xfrm>
          <a:prstGeom prst="ellipse">
            <a:avLst/>
          </a:prstGeom>
          <a:solidFill>
            <a:srgbClr val="E95420"/>
          </a:solidFill>
          <a:ln w="12700">
            <a:solidFill>
              <a:srgbClr val="E95420"/>
            </a:solidFill>
            <a:prstDash val="solid"/>
          </a:ln>
        </p:spPr>
      </p:sp>
      <p:pic>
        <p:nvPicPr>
          <p:cNvPr id="6" name="Image 0" descr="preencoded.png">    </p:cNvPr>
          <p:cNvPicPr>
            <a:picLocks noChangeAspect="1"/>
          </p:cNvPicPr>
          <p:nvPr/>
        </p:nvPicPr>
        <p:blipFill>
          <a:blip r:embed="rId1"/>
          <a:stretch>
            <a:fillRect/>
          </a:stretch>
        </p:blipFill>
        <p:spPr>
          <a:xfrm>
            <a:off x="811530" y="2091690"/>
            <a:ext cx="251460" cy="251460"/>
          </a:xfrm>
          <a:prstGeom prst="rect">
            <a:avLst/>
          </a:prstGeom>
        </p:spPr>
      </p:pic>
      <p:sp>
        <p:nvSpPr>
          <p:cNvPr id="7" name="Text 4"/>
          <p:cNvSpPr txBox="1"/>
          <p:nvPr/>
        </p:nvSpPr>
        <p:spPr>
          <a:xfrm>
            <a:off x="685800" y="2560320"/>
            <a:ext cx="2240280" cy="274320"/>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Runs real commands</a:t>
            </a:r>
            <a:endParaRPr lang="en-US" sz="1500" dirty="0"/>
          </a:p>
        </p:txBody>
      </p:sp>
      <p:sp>
        <p:nvSpPr>
          <p:cNvPr id="8" name="Text 5"/>
          <p:cNvSpPr txBox="1"/>
          <p:nvPr/>
        </p:nvSpPr>
        <p:spPr>
          <a:xfrm>
            <a:off x="685800" y="2816352"/>
            <a:ext cx="2240280" cy="256032"/>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cd, ls, mkdir, cat, mv, ps</a:t>
            </a:r>
            <a:endParaRPr lang="en-US" sz="1200" dirty="0"/>
          </a:p>
        </p:txBody>
      </p:sp>
      <p:sp>
        <p:nvSpPr>
          <p:cNvPr id="9" name="Shape 6"/>
          <p:cNvSpPr/>
          <p:nvPr/>
        </p:nvSpPr>
        <p:spPr>
          <a:xfrm>
            <a:off x="3246120" y="1737360"/>
            <a:ext cx="2606040" cy="1417320"/>
          </a:xfrm>
          <a:prstGeom prst="roundRect">
            <a:avLst>
              <a:gd name="adj" fmla="val 6452"/>
            </a:avLst>
          </a:prstGeom>
          <a:solidFill>
            <a:srgbClr val="F6F3F5"/>
          </a:solidFill>
          <a:ln w="12700">
            <a:solidFill>
              <a:srgbClr val="F6F3F5"/>
            </a:solidFill>
            <a:prstDash val="solid"/>
          </a:ln>
        </p:spPr>
      </p:sp>
      <p:sp>
        <p:nvSpPr>
          <p:cNvPr id="10" name="Shape 7"/>
          <p:cNvSpPr/>
          <p:nvPr/>
        </p:nvSpPr>
        <p:spPr>
          <a:xfrm>
            <a:off x="3474720" y="1965960"/>
            <a:ext cx="502920" cy="502920"/>
          </a:xfrm>
          <a:prstGeom prst="ellipse">
            <a:avLst/>
          </a:prstGeom>
          <a:solidFill>
            <a:srgbClr val="26A269"/>
          </a:solidFill>
          <a:ln w="12700">
            <a:solidFill>
              <a:srgbClr val="26A269"/>
            </a:solidFill>
            <a:prstDash val="solid"/>
          </a:ln>
        </p:spPr>
      </p:sp>
      <p:pic>
        <p:nvPicPr>
          <p:cNvPr id="11" name="Image 1" descr="preencoded.png">    </p:cNvPr>
          <p:cNvPicPr>
            <a:picLocks noChangeAspect="1"/>
          </p:cNvPicPr>
          <p:nvPr/>
        </p:nvPicPr>
        <p:blipFill>
          <a:blip r:embed="rId2"/>
          <a:stretch>
            <a:fillRect/>
          </a:stretch>
        </p:blipFill>
        <p:spPr>
          <a:xfrm>
            <a:off x="3600450" y="2091690"/>
            <a:ext cx="251460" cy="251460"/>
          </a:xfrm>
          <a:prstGeom prst="rect">
            <a:avLst/>
          </a:prstGeom>
        </p:spPr>
      </p:pic>
      <p:sp>
        <p:nvSpPr>
          <p:cNvPr id="12" name="Text 8"/>
          <p:cNvSpPr txBox="1"/>
          <p:nvPr/>
        </p:nvSpPr>
        <p:spPr>
          <a:xfrm>
            <a:off x="3474720" y="2560320"/>
            <a:ext cx="2240280" cy="274320"/>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Built-in gedit</a:t>
            </a:r>
            <a:endParaRPr lang="en-US" sz="1500" dirty="0"/>
          </a:p>
        </p:txBody>
      </p:sp>
      <p:sp>
        <p:nvSpPr>
          <p:cNvPr id="13" name="Text 9"/>
          <p:cNvSpPr txBox="1"/>
          <p:nvPr/>
        </p:nvSpPr>
        <p:spPr>
          <a:xfrm>
            <a:off x="3474720" y="2816352"/>
            <a:ext cx="2240280" cy="256032"/>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Write code in an editor window</a:t>
            </a:r>
            <a:endParaRPr lang="en-US" sz="1200" dirty="0"/>
          </a:p>
        </p:txBody>
      </p:sp>
      <p:sp>
        <p:nvSpPr>
          <p:cNvPr id="14" name="Shape 10"/>
          <p:cNvSpPr/>
          <p:nvPr/>
        </p:nvSpPr>
        <p:spPr>
          <a:xfrm>
            <a:off x="6035040" y="1737360"/>
            <a:ext cx="2606040" cy="1417320"/>
          </a:xfrm>
          <a:prstGeom prst="roundRect">
            <a:avLst>
              <a:gd name="adj" fmla="val 6452"/>
            </a:avLst>
          </a:prstGeom>
          <a:solidFill>
            <a:srgbClr val="F6F3F5"/>
          </a:solidFill>
          <a:ln w="12700">
            <a:solidFill>
              <a:srgbClr val="F6F3F5"/>
            </a:solidFill>
            <a:prstDash val="solid"/>
          </a:ln>
        </p:spPr>
      </p:sp>
      <p:sp>
        <p:nvSpPr>
          <p:cNvPr id="15" name="Shape 11"/>
          <p:cNvSpPr/>
          <p:nvPr/>
        </p:nvSpPr>
        <p:spPr>
          <a:xfrm>
            <a:off x="6263640" y="1965960"/>
            <a:ext cx="502920" cy="502920"/>
          </a:xfrm>
          <a:prstGeom prst="ellipse">
            <a:avLst/>
          </a:prstGeom>
          <a:solidFill>
            <a:srgbClr val="E95420"/>
          </a:solidFill>
          <a:ln w="12700">
            <a:solidFill>
              <a:srgbClr val="E95420"/>
            </a:solidFill>
            <a:prstDash val="solid"/>
          </a:ln>
        </p:spPr>
      </p:sp>
      <p:pic>
        <p:nvPicPr>
          <p:cNvPr id="16" name="Image 2" descr="preencoded.png">    </p:cNvPr>
          <p:cNvPicPr>
            <a:picLocks noChangeAspect="1"/>
          </p:cNvPicPr>
          <p:nvPr/>
        </p:nvPicPr>
        <p:blipFill>
          <a:blip r:embed="rId3"/>
          <a:stretch>
            <a:fillRect/>
          </a:stretch>
        </p:blipFill>
        <p:spPr>
          <a:xfrm>
            <a:off x="6389370" y="2091690"/>
            <a:ext cx="251460" cy="251460"/>
          </a:xfrm>
          <a:prstGeom prst="rect">
            <a:avLst/>
          </a:prstGeom>
        </p:spPr>
      </p:pic>
      <p:sp>
        <p:nvSpPr>
          <p:cNvPr id="17" name="Text 12"/>
          <p:cNvSpPr txBox="1"/>
          <p:nvPr/>
        </p:nvSpPr>
        <p:spPr>
          <a:xfrm>
            <a:off x="6263640" y="2560320"/>
            <a:ext cx="2240280" cy="274320"/>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Compile and run C</a:t>
            </a:r>
            <a:endParaRPr lang="en-US" sz="1500" dirty="0"/>
          </a:p>
        </p:txBody>
      </p:sp>
      <p:sp>
        <p:nvSpPr>
          <p:cNvPr id="18" name="Text 13"/>
          <p:cNvSpPr txBox="1"/>
          <p:nvPr/>
        </p:nvSpPr>
        <p:spPr>
          <a:xfrm>
            <a:off x="6263640" y="2816352"/>
            <a:ext cx="2240280" cy="256032"/>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gcc h.c, then ./a.out</a:t>
            </a:r>
            <a:endParaRPr lang="en-US" sz="1200" dirty="0"/>
          </a:p>
        </p:txBody>
      </p:sp>
      <p:sp>
        <p:nvSpPr>
          <p:cNvPr id="19" name="Shape 14"/>
          <p:cNvSpPr/>
          <p:nvPr/>
        </p:nvSpPr>
        <p:spPr>
          <a:xfrm>
            <a:off x="457200" y="3337560"/>
            <a:ext cx="2606040" cy="1417320"/>
          </a:xfrm>
          <a:prstGeom prst="roundRect">
            <a:avLst>
              <a:gd name="adj" fmla="val 6452"/>
            </a:avLst>
          </a:prstGeom>
          <a:solidFill>
            <a:srgbClr val="F6F3F5"/>
          </a:solidFill>
          <a:ln w="12700">
            <a:solidFill>
              <a:srgbClr val="F6F3F5"/>
            </a:solidFill>
            <a:prstDash val="solid"/>
          </a:ln>
        </p:spPr>
      </p:sp>
      <p:sp>
        <p:nvSpPr>
          <p:cNvPr id="20" name="Shape 15"/>
          <p:cNvSpPr/>
          <p:nvPr/>
        </p:nvSpPr>
        <p:spPr>
          <a:xfrm>
            <a:off x="685800" y="3566160"/>
            <a:ext cx="502920" cy="502920"/>
          </a:xfrm>
          <a:prstGeom prst="ellipse">
            <a:avLst/>
          </a:prstGeom>
          <a:solidFill>
            <a:srgbClr val="26A269"/>
          </a:solidFill>
          <a:ln w="12700">
            <a:solidFill>
              <a:srgbClr val="26A269"/>
            </a:solidFill>
            <a:prstDash val="solid"/>
          </a:ln>
        </p:spPr>
      </p:sp>
      <p:pic>
        <p:nvPicPr>
          <p:cNvPr id="21" name="Image 3" descr="preencoded.png">    </p:cNvPr>
          <p:cNvPicPr>
            <a:picLocks noChangeAspect="1"/>
          </p:cNvPicPr>
          <p:nvPr/>
        </p:nvPicPr>
        <p:blipFill>
          <a:blip r:embed="rId4"/>
          <a:stretch>
            <a:fillRect/>
          </a:stretch>
        </p:blipFill>
        <p:spPr>
          <a:xfrm>
            <a:off x="811530" y="3691890"/>
            <a:ext cx="251460" cy="251460"/>
          </a:xfrm>
          <a:prstGeom prst="rect">
            <a:avLst/>
          </a:prstGeom>
        </p:spPr>
      </p:pic>
      <p:sp>
        <p:nvSpPr>
          <p:cNvPr id="22" name="Text 16"/>
          <p:cNvSpPr txBox="1"/>
          <p:nvPr/>
        </p:nvSpPr>
        <p:spPr>
          <a:xfrm>
            <a:off x="685800" y="4160520"/>
            <a:ext cx="2240280" cy="274320"/>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Ctrl-C and Ctrl-Z</a:t>
            </a:r>
            <a:endParaRPr lang="en-US" sz="1500" dirty="0"/>
          </a:p>
        </p:txBody>
      </p:sp>
      <p:sp>
        <p:nvSpPr>
          <p:cNvPr id="23" name="Text 17"/>
          <p:cNvSpPr txBox="1"/>
          <p:nvPr/>
        </p:nvSpPr>
        <p:spPr>
          <a:xfrm>
            <a:off x="685800" y="4416552"/>
            <a:ext cx="2240280" cy="256032"/>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Stop, pause and resume programs</a:t>
            </a:r>
            <a:endParaRPr lang="en-US" sz="1200" dirty="0"/>
          </a:p>
        </p:txBody>
      </p:sp>
      <p:sp>
        <p:nvSpPr>
          <p:cNvPr id="24" name="Shape 18"/>
          <p:cNvSpPr/>
          <p:nvPr/>
        </p:nvSpPr>
        <p:spPr>
          <a:xfrm>
            <a:off x="3246120" y="3337560"/>
            <a:ext cx="2606040" cy="1417320"/>
          </a:xfrm>
          <a:prstGeom prst="roundRect">
            <a:avLst>
              <a:gd name="adj" fmla="val 6452"/>
            </a:avLst>
          </a:prstGeom>
          <a:solidFill>
            <a:srgbClr val="F6F3F5"/>
          </a:solidFill>
          <a:ln w="12700">
            <a:solidFill>
              <a:srgbClr val="F6F3F5"/>
            </a:solidFill>
            <a:prstDash val="solid"/>
          </a:ln>
        </p:spPr>
      </p:sp>
      <p:sp>
        <p:nvSpPr>
          <p:cNvPr id="25" name="Shape 19"/>
          <p:cNvSpPr/>
          <p:nvPr/>
        </p:nvSpPr>
        <p:spPr>
          <a:xfrm>
            <a:off x="3474720" y="3566160"/>
            <a:ext cx="502920" cy="502920"/>
          </a:xfrm>
          <a:prstGeom prst="ellipse">
            <a:avLst/>
          </a:prstGeom>
          <a:solidFill>
            <a:srgbClr val="E95420"/>
          </a:solidFill>
          <a:ln w="12700">
            <a:solidFill>
              <a:srgbClr val="E95420"/>
            </a:solidFill>
            <a:prstDash val="solid"/>
          </a:ln>
        </p:spPr>
      </p:sp>
      <p:pic>
        <p:nvPicPr>
          <p:cNvPr id="26" name="Image 4" descr="preencoded.png">    </p:cNvPr>
          <p:cNvPicPr>
            <a:picLocks noChangeAspect="1"/>
          </p:cNvPicPr>
          <p:nvPr/>
        </p:nvPicPr>
        <p:blipFill>
          <a:blip r:embed="rId5"/>
          <a:stretch>
            <a:fillRect/>
          </a:stretch>
        </p:blipFill>
        <p:spPr>
          <a:xfrm>
            <a:off x="3600450" y="3691890"/>
            <a:ext cx="251460" cy="251460"/>
          </a:xfrm>
          <a:prstGeom prst="rect">
            <a:avLst/>
          </a:prstGeom>
        </p:spPr>
      </p:pic>
      <p:sp>
        <p:nvSpPr>
          <p:cNvPr id="27" name="Text 20"/>
          <p:cNvSpPr txBox="1"/>
          <p:nvPr/>
        </p:nvSpPr>
        <p:spPr>
          <a:xfrm>
            <a:off x="3474720" y="4160520"/>
            <a:ext cx="2240280" cy="274320"/>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See process IDs</a:t>
            </a:r>
            <a:endParaRPr lang="en-US" sz="1500" dirty="0"/>
          </a:p>
        </p:txBody>
      </p:sp>
      <p:sp>
        <p:nvSpPr>
          <p:cNvPr id="28" name="Text 21"/>
          <p:cNvSpPr txBox="1"/>
          <p:nvPr/>
        </p:nvSpPr>
        <p:spPr>
          <a:xfrm>
            <a:off x="3474720" y="4416552"/>
            <a:ext cx="2240280" cy="256032"/>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Our own pid command</a:t>
            </a:r>
            <a:endParaRPr lang="en-US" sz="1200" dirty="0"/>
          </a:p>
        </p:txBody>
      </p:sp>
      <p:sp>
        <p:nvSpPr>
          <p:cNvPr id="29" name="Shape 22"/>
          <p:cNvSpPr/>
          <p:nvPr/>
        </p:nvSpPr>
        <p:spPr>
          <a:xfrm>
            <a:off x="6035040" y="3337560"/>
            <a:ext cx="2606040" cy="1417320"/>
          </a:xfrm>
          <a:prstGeom prst="roundRect">
            <a:avLst>
              <a:gd name="adj" fmla="val 6452"/>
            </a:avLst>
          </a:prstGeom>
          <a:solidFill>
            <a:srgbClr val="F6F3F5"/>
          </a:solidFill>
          <a:ln w="12700">
            <a:solidFill>
              <a:srgbClr val="F6F3F5"/>
            </a:solidFill>
            <a:prstDash val="solid"/>
          </a:ln>
        </p:spPr>
      </p:sp>
      <p:sp>
        <p:nvSpPr>
          <p:cNvPr id="30" name="Shape 23"/>
          <p:cNvSpPr/>
          <p:nvPr/>
        </p:nvSpPr>
        <p:spPr>
          <a:xfrm>
            <a:off x="6263640" y="3566160"/>
            <a:ext cx="502920" cy="502920"/>
          </a:xfrm>
          <a:prstGeom prst="ellipse">
            <a:avLst/>
          </a:prstGeom>
          <a:solidFill>
            <a:srgbClr val="26A269"/>
          </a:solidFill>
          <a:ln w="12700">
            <a:solidFill>
              <a:srgbClr val="26A269"/>
            </a:solidFill>
            <a:prstDash val="solid"/>
          </a:ln>
        </p:spPr>
      </p:sp>
      <p:pic>
        <p:nvPicPr>
          <p:cNvPr id="31" name="Image 5" descr="preencoded.png">    </p:cNvPr>
          <p:cNvPicPr>
            <a:picLocks noChangeAspect="1"/>
          </p:cNvPicPr>
          <p:nvPr/>
        </p:nvPicPr>
        <p:blipFill>
          <a:blip r:embed="rId6"/>
          <a:stretch>
            <a:fillRect/>
          </a:stretch>
        </p:blipFill>
        <p:spPr>
          <a:xfrm>
            <a:off x="6389370" y="3691890"/>
            <a:ext cx="251460" cy="251460"/>
          </a:xfrm>
          <a:prstGeom prst="rect">
            <a:avLst/>
          </a:prstGeom>
        </p:spPr>
      </p:pic>
      <p:sp>
        <p:nvSpPr>
          <p:cNvPr id="32" name="Text 24"/>
          <p:cNvSpPr txBox="1"/>
          <p:nvPr/>
        </p:nvSpPr>
        <p:spPr>
          <a:xfrm>
            <a:off x="6263640" y="4160520"/>
            <a:ext cx="2240280" cy="274320"/>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Safe by design</a:t>
            </a:r>
            <a:endParaRPr lang="en-US" sz="1500" dirty="0"/>
          </a:p>
        </p:txBody>
      </p:sp>
      <p:sp>
        <p:nvSpPr>
          <p:cNvPr id="33" name="Text 25"/>
          <p:cNvSpPr txBox="1"/>
          <p:nvPr/>
        </p:nvSpPr>
        <p:spPr>
          <a:xfrm>
            <a:off x="6263640" y="4416552"/>
            <a:ext cx="2240280" cy="256032"/>
          </a:xfrm>
          <a:prstGeom prst="rect">
            <a:avLst/>
          </a:prstGeom>
          <a:noFill/>
          <a:ln/>
        </p:spPr>
        <p:txBody>
          <a:bodyPr wrap="square" lIns="0" tIns="0" rIns="0" bIns="0" rtlCol="0" anchor="ctr"/>
          <a:lstStyle/>
          <a:p>
            <a:pPr indent="0" marL="0">
              <a:buNone/>
            </a:pPr>
            <a:r>
              <a:rPr lang="en-US" sz="1200" dirty="0">
                <a:solidFill>
                  <a:srgbClr val="6B6168"/>
                </a:solidFill>
                <a:latin typeface="Calibri" pitchFamily="34" charset="0"/>
                <a:ea typeface="Calibri" pitchFamily="34" charset="-122"/>
                <a:cs typeface="Calibri" pitchFamily="34" charset="-120"/>
              </a:rPr>
              <a:t>Only our chosen commands run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221A20"/>
                </a:solidFill>
                <a:latin typeface="Calibri" pitchFamily="34" charset="0"/>
                <a:ea typeface="Calibri" pitchFamily="34" charset="-122"/>
                <a:cs typeface="Calibri" pitchFamily="34" charset="-120"/>
              </a:rPr>
              <a:t>Tech Stack</a:t>
            </a:r>
            <a:endParaRPr lang="en-US" sz="3200" dirty="0"/>
          </a:p>
        </p:txBody>
      </p:sp>
      <p:sp>
        <p:nvSpPr>
          <p:cNvPr id="3" name="Shape 1"/>
          <p:cNvSpPr/>
          <p:nvPr/>
        </p:nvSpPr>
        <p:spPr>
          <a:xfrm>
            <a:off x="457200" y="1353312"/>
            <a:ext cx="640080" cy="640080"/>
          </a:xfrm>
          <a:prstGeom prst="ellipse">
            <a:avLst/>
          </a:prstGeom>
          <a:solidFill>
            <a:srgbClr val="E95420"/>
          </a:solidFill>
          <a:ln w="12700">
            <a:solidFill>
              <a:srgbClr val="E95420"/>
            </a:solidFill>
            <a:prstDash val="solid"/>
          </a:ln>
        </p:spPr>
      </p:sp>
      <p:pic>
        <p:nvPicPr>
          <p:cNvPr id="4" name="Image 0" descr="preencoded.png">    </p:cNvPr>
          <p:cNvPicPr>
            <a:picLocks noChangeAspect="1"/>
          </p:cNvPicPr>
          <p:nvPr/>
        </p:nvPicPr>
        <p:blipFill>
          <a:blip r:embed="rId1"/>
          <a:stretch>
            <a:fillRect/>
          </a:stretch>
        </p:blipFill>
        <p:spPr>
          <a:xfrm>
            <a:off x="617220" y="1513332"/>
            <a:ext cx="320040" cy="320040"/>
          </a:xfrm>
          <a:prstGeom prst="rect">
            <a:avLst/>
          </a:prstGeom>
        </p:spPr>
      </p:pic>
      <p:sp>
        <p:nvSpPr>
          <p:cNvPr id="5" name="Text 2"/>
          <p:cNvSpPr txBox="1"/>
          <p:nvPr/>
        </p:nvSpPr>
        <p:spPr>
          <a:xfrm>
            <a:off x="1280160" y="1325880"/>
            <a:ext cx="3200400" cy="320040"/>
          </a:xfrm>
          <a:prstGeom prst="rect">
            <a:avLst/>
          </a:prstGeom>
          <a:noFill/>
          <a:ln/>
        </p:spPr>
        <p:txBody>
          <a:bodyPr wrap="square" lIns="0" tIns="0" rIns="0" bIns="0" rtlCol="0" anchor="ctr"/>
          <a:lstStyle/>
          <a:p>
            <a:pPr indent="0" marL="0">
              <a:buNone/>
            </a:pPr>
            <a:r>
              <a:rPr lang="en-US" sz="1700" b="1" dirty="0">
                <a:solidFill>
                  <a:srgbClr val="221A20"/>
                </a:solidFill>
                <a:latin typeface="Calibri" pitchFamily="34" charset="0"/>
                <a:ea typeface="Calibri" pitchFamily="34" charset="-122"/>
                <a:cs typeface="Calibri" pitchFamily="34" charset="-120"/>
              </a:rPr>
              <a:t>C language</a:t>
            </a:r>
            <a:endParaRPr lang="en-US" sz="1700" dirty="0"/>
          </a:p>
        </p:txBody>
      </p:sp>
      <p:sp>
        <p:nvSpPr>
          <p:cNvPr id="6" name="Text 3"/>
          <p:cNvSpPr txBox="1"/>
          <p:nvPr/>
        </p:nvSpPr>
        <p:spPr>
          <a:xfrm>
            <a:off x="1280160" y="1664208"/>
            <a:ext cx="3200400" cy="457200"/>
          </a:xfrm>
          <a:prstGeom prst="rect">
            <a:avLst/>
          </a:prstGeom>
          <a:noFill/>
          <a:ln/>
        </p:spPr>
        <p:txBody>
          <a:bodyPr wrap="square" lIns="0" tIns="0" rIns="0" bIns="0" rtlCol="0" anchor="t"/>
          <a:lstStyle/>
          <a:p>
            <a:pPr indent="0" marL="0">
              <a:buNone/>
            </a:pPr>
            <a:r>
              <a:rPr lang="en-US" sz="1300" dirty="0">
                <a:solidFill>
                  <a:srgbClr val="6B6168"/>
                </a:solidFill>
                <a:latin typeface="Calibri" pitchFamily="34" charset="0"/>
                <a:ea typeface="Calibri" pitchFamily="34" charset="-122"/>
                <a:cs typeface="Calibri" pitchFamily="34" charset="-120"/>
              </a:rPr>
              <a:t>The shell and the web server are both written in C</a:t>
            </a:r>
            <a:endParaRPr lang="en-US" sz="1300" dirty="0"/>
          </a:p>
        </p:txBody>
      </p:sp>
      <p:sp>
        <p:nvSpPr>
          <p:cNvPr id="7" name="Shape 4"/>
          <p:cNvSpPr/>
          <p:nvPr/>
        </p:nvSpPr>
        <p:spPr>
          <a:xfrm>
            <a:off x="4663440" y="1353312"/>
            <a:ext cx="640080" cy="640080"/>
          </a:xfrm>
          <a:prstGeom prst="ellipse">
            <a:avLst/>
          </a:prstGeom>
          <a:solidFill>
            <a:srgbClr val="26A269"/>
          </a:solidFill>
          <a:ln w="12700">
            <a:solidFill>
              <a:srgbClr val="26A269"/>
            </a:solidFill>
            <a:prstDash val="solid"/>
          </a:ln>
        </p:spPr>
      </p:sp>
      <p:pic>
        <p:nvPicPr>
          <p:cNvPr id="8" name="Image 1" descr="preencoded.png">    </p:cNvPr>
          <p:cNvPicPr>
            <a:picLocks noChangeAspect="1"/>
          </p:cNvPicPr>
          <p:nvPr/>
        </p:nvPicPr>
        <p:blipFill>
          <a:blip r:embed="rId2"/>
          <a:stretch>
            <a:fillRect/>
          </a:stretch>
        </p:blipFill>
        <p:spPr>
          <a:xfrm>
            <a:off x="4823460" y="1513332"/>
            <a:ext cx="320040" cy="320040"/>
          </a:xfrm>
          <a:prstGeom prst="rect">
            <a:avLst/>
          </a:prstGeom>
        </p:spPr>
      </p:pic>
      <p:sp>
        <p:nvSpPr>
          <p:cNvPr id="9" name="Text 5"/>
          <p:cNvSpPr txBox="1"/>
          <p:nvPr/>
        </p:nvSpPr>
        <p:spPr>
          <a:xfrm>
            <a:off x="5486400" y="1325880"/>
            <a:ext cx="3200400" cy="320040"/>
          </a:xfrm>
          <a:prstGeom prst="rect">
            <a:avLst/>
          </a:prstGeom>
          <a:noFill/>
          <a:ln/>
        </p:spPr>
        <p:txBody>
          <a:bodyPr wrap="square" lIns="0" tIns="0" rIns="0" bIns="0" rtlCol="0" anchor="ctr"/>
          <a:lstStyle/>
          <a:p>
            <a:pPr indent="0" marL="0">
              <a:buNone/>
            </a:pPr>
            <a:r>
              <a:rPr lang="en-US" sz="1700" b="1" dirty="0">
                <a:solidFill>
                  <a:srgbClr val="221A20"/>
                </a:solidFill>
                <a:latin typeface="Calibri" pitchFamily="34" charset="0"/>
                <a:ea typeface="Calibri" pitchFamily="34" charset="-122"/>
                <a:cs typeface="Calibri" pitchFamily="34" charset="-120"/>
              </a:rPr>
              <a:t>Unix system calls</a:t>
            </a:r>
            <a:endParaRPr lang="en-US" sz="1700" dirty="0"/>
          </a:p>
        </p:txBody>
      </p:sp>
      <p:sp>
        <p:nvSpPr>
          <p:cNvPr id="10" name="Text 6"/>
          <p:cNvSpPr txBox="1"/>
          <p:nvPr/>
        </p:nvSpPr>
        <p:spPr>
          <a:xfrm>
            <a:off x="5486400" y="1664208"/>
            <a:ext cx="3200400" cy="457200"/>
          </a:xfrm>
          <a:prstGeom prst="rect">
            <a:avLst/>
          </a:prstGeom>
          <a:noFill/>
          <a:ln/>
        </p:spPr>
        <p:txBody>
          <a:bodyPr wrap="square" lIns="0" tIns="0" rIns="0" bIns="0" rtlCol="0" anchor="t"/>
          <a:lstStyle/>
          <a:p>
            <a:pPr indent="0" marL="0">
              <a:buNone/>
            </a:pPr>
            <a:r>
              <a:rPr lang="en-US" sz="1300" dirty="0">
                <a:solidFill>
                  <a:srgbClr val="6B6168"/>
                </a:solidFill>
                <a:latin typeface="Calibri" pitchFamily="34" charset="0"/>
                <a:ea typeface="Calibri" pitchFamily="34" charset="-122"/>
                <a:cs typeface="Calibri" pitchFamily="34" charset="-120"/>
              </a:rPr>
              <a:t>fork, exec, wait, pipe, kill: how the shell talks to the OS</a:t>
            </a:r>
            <a:endParaRPr lang="en-US" sz="1300" dirty="0"/>
          </a:p>
        </p:txBody>
      </p:sp>
      <p:sp>
        <p:nvSpPr>
          <p:cNvPr id="11" name="Shape 7"/>
          <p:cNvSpPr/>
          <p:nvPr/>
        </p:nvSpPr>
        <p:spPr>
          <a:xfrm>
            <a:off x="457200" y="2679192"/>
            <a:ext cx="640080" cy="640080"/>
          </a:xfrm>
          <a:prstGeom prst="ellipse">
            <a:avLst/>
          </a:prstGeom>
          <a:solidFill>
            <a:srgbClr val="E95420"/>
          </a:solidFill>
          <a:ln w="12700">
            <a:solidFill>
              <a:srgbClr val="E95420"/>
            </a:solidFill>
            <a:prstDash val="solid"/>
          </a:ln>
        </p:spPr>
      </p:sp>
      <p:pic>
        <p:nvPicPr>
          <p:cNvPr id="12" name="Image 2" descr="preencoded.png">    </p:cNvPr>
          <p:cNvPicPr>
            <a:picLocks noChangeAspect="1"/>
          </p:cNvPicPr>
          <p:nvPr/>
        </p:nvPicPr>
        <p:blipFill>
          <a:blip r:embed="rId3"/>
          <a:stretch>
            <a:fillRect/>
          </a:stretch>
        </p:blipFill>
        <p:spPr>
          <a:xfrm>
            <a:off x="617220" y="2839212"/>
            <a:ext cx="320040" cy="320040"/>
          </a:xfrm>
          <a:prstGeom prst="rect">
            <a:avLst/>
          </a:prstGeom>
        </p:spPr>
      </p:pic>
      <p:sp>
        <p:nvSpPr>
          <p:cNvPr id="13" name="Text 8"/>
          <p:cNvSpPr txBox="1"/>
          <p:nvPr/>
        </p:nvSpPr>
        <p:spPr>
          <a:xfrm>
            <a:off x="1280160" y="2651760"/>
            <a:ext cx="3200400" cy="320040"/>
          </a:xfrm>
          <a:prstGeom prst="rect">
            <a:avLst/>
          </a:prstGeom>
          <a:noFill/>
          <a:ln/>
        </p:spPr>
        <p:txBody>
          <a:bodyPr wrap="square" lIns="0" tIns="0" rIns="0" bIns="0" rtlCol="0" anchor="ctr"/>
          <a:lstStyle/>
          <a:p>
            <a:pPr indent="0" marL="0">
              <a:buNone/>
            </a:pPr>
            <a:r>
              <a:rPr lang="en-US" sz="1700" b="1" dirty="0">
                <a:solidFill>
                  <a:srgbClr val="221A20"/>
                </a:solidFill>
                <a:latin typeface="Calibri" pitchFamily="34" charset="0"/>
                <a:ea typeface="Calibri" pitchFamily="34" charset="-122"/>
                <a:cs typeface="Calibri" pitchFamily="34" charset="-120"/>
              </a:rPr>
              <a:t>Pseudo-terminal</a:t>
            </a:r>
            <a:endParaRPr lang="en-US" sz="1700" dirty="0"/>
          </a:p>
        </p:txBody>
      </p:sp>
      <p:sp>
        <p:nvSpPr>
          <p:cNvPr id="14" name="Text 9"/>
          <p:cNvSpPr txBox="1"/>
          <p:nvPr/>
        </p:nvSpPr>
        <p:spPr>
          <a:xfrm>
            <a:off x="1280160" y="2990088"/>
            <a:ext cx="3200400" cy="457200"/>
          </a:xfrm>
          <a:prstGeom prst="rect">
            <a:avLst/>
          </a:prstGeom>
          <a:noFill/>
          <a:ln/>
        </p:spPr>
        <p:txBody>
          <a:bodyPr wrap="square" lIns="0" tIns="0" rIns="0" bIns="0" rtlCol="0" anchor="t"/>
          <a:lstStyle/>
          <a:p>
            <a:pPr indent="0" marL="0">
              <a:buNone/>
            </a:pPr>
            <a:r>
              <a:rPr lang="en-US" sz="1300" dirty="0">
                <a:solidFill>
                  <a:srgbClr val="6B6168"/>
                </a:solidFill>
                <a:latin typeface="Calibri" pitchFamily="34" charset="0"/>
                <a:ea typeface="Calibri" pitchFamily="34" charset="-122"/>
                <a:cs typeface="Calibri" pitchFamily="34" charset="-120"/>
              </a:rPr>
              <a:t>Makes the browser behave like a real terminal</a:t>
            </a:r>
            <a:endParaRPr lang="en-US" sz="1300" dirty="0"/>
          </a:p>
        </p:txBody>
      </p:sp>
      <p:sp>
        <p:nvSpPr>
          <p:cNvPr id="15" name="Shape 10"/>
          <p:cNvSpPr/>
          <p:nvPr/>
        </p:nvSpPr>
        <p:spPr>
          <a:xfrm>
            <a:off x="4663440" y="2679192"/>
            <a:ext cx="640080" cy="640080"/>
          </a:xfrm>
          <a:prstGeom prst="ellipse">
            <a:avLst/>
          </a:prstGeom>
          <a:solidFill>
            <a:srgbClr val="26A269"/>
          </a:solidFill>
          <a:ln w="12700">
            <a:solidFill>
              <a:srgbClr val="26A269"/>
            </a:solidFill>
            <a:prstDash val="solid"/>
          </a:ln>
        </p:spPr>
      </p:sp>
      <p:pic>
        <p:nvPicPr>
          <p:cNvPr id="16" name="Image 3" descr="preencoded.png">    </p:cNvPr>
          <p:cNvPicPr>
            <a:picLocks noChangeAspect="1"/>
          </p:cNvPicPr>
          <p:nvPr/>
        </p:nvPicPr>
        <p:blipFill>
          <a:blip r:embed="rId4"/>
          <a:stretch>
            <a:fillRect/>
          </a:stretch>
        </p:blipFill>
        <p:spPr>
          <a:xfrm>
            <a:off x="4823460" y="2839212"/>
            <a:ext cx="320040" cy="320040"/>
          </a:xfrm>
          <a:prstGeom prst="rect">
            <a:avLst/>
          </a:prstGeom>
        </p:spPr>
      </p:pic>
      <p:sp>
        <p:nvSpPr>
          <p:cNvPr id="17" name="Text 11"/>
          <p:cNvSpPr txBox="1"/>
          <p:nvPr/>
        </p:nvSpPr>
        <p:spPr>
          <a:xfrm>
            <a:off x="5486400" y="2651760"/>
            <a:ext cx="3200400" cy="320040"/>
          </a:xfrm>
          <a:prstGeom prst="rect">
            <a:avLst/>
          </a:prstGeom>
          <a:noFill/>
          <a:ln/>
        </p:spPr>
        <p:txBody>
          <a:bodyPr wrap="square" lIns="0" tIns="0" rIns="0" bIns="0" rtlCol="0" anchor="ctr"/>
          <a:lstStyle/>
          <a:p>
            <a:pPr indent="0" marL="0">
              <a:buNone/>
            </a:pPr>
            <a:r>
              <a:rPr lang="en-US" sz="1700" b="1" dirty="0">
                <a:solidFill>
                  <a:srgbClr val="221A20"/>
                </a:solidFill>
                <a:latin typeface="Calibri" pitchFamily="34" charset="0"/>
                <a:ea typeface="Calibri" pitchFamily="34" charset="-122"/>
                <a:cs typeface="Calibri" pitchFamily="34" charset="-120"/>
              </a:rPr>
              <a:t>HTML, CSS, JavaScript</a:t>
            </a:r>
            <a:endParaRPr lang="en-US" sz="1700" dirty="0"/>
          </a:p>
        </p:txBody>
      </p:sp>
      <p:sp>
        <p:nvSpPr>
          <p:cNvPr id="18" name="Text 12"/>
          <p:cNvSpPr txBox="1"/>
          <p:nvPr/>
        </p:nvSpPr>
        <p:spPr>
          <a:xfrm>
            <a:off x="5486400" y="2990088"/>
            <a:ext cx="3200400" cy="457200"/>
          </a:xfrm>
          <a:prstGeom prst="rect">
            <a:avLst/>
          </a:prstGeom>
          <a:noFill/>
          <a:ln/>
        </p:spPr>
        <p:txBody>
          <a:bodyPr wrap="square" lIns="0" tIns="0" rIns="0" bIns="0" rtlCol="0" anchor="t"/>
          <a:lstStyle/>
          <a:p>
            <a:pPr indent="0" marL="0">
              <a:buNone/>
            </a:pPr>
            <a:r>
              <a:rPr lang="en-US" sz="1300" dirty="0">
                <a:solidFill>
                  <a:srgbClr val="6B6168"/>
                </a:solidFill>
                <a:latin typeface="Calibri" pitchFamily="34" charset="0"/>
                <a:ea typeface="Calibri" pitchFamily="34" charset="-122"/>
                <a:cs typeface="Calibri" pitchFamily="34" charset="-120"/>
              </a:rPr>
              <a:t>Draws the terminal window and the gedit editor</a:t>
            </a:r>
            <a:endParaRPr lang="en-US" sz="1300" dirty="0"/>
          </a:p>
        </p:txBody>
      </p:sp>
      <p:sp>
        <p:nvSpPr>
          <p:cNvPr id="19" name="Shape 13"/>
          <p:cNvSpPr/>
          <p:nvPr/>
        </p:nvSpPr>
        <p:spPr>
          <a:xfrm>
            <a:off x="457200" y="4005072"/>
            <a:ext cx="640080" cy="640080"/>
          </a:xfrm>
          <a:prstGeom prst="ellipse">
            <a:avLst/>
          </a:prstGeom>
          <a:solidFill>
            <a:srgbClr val="E95420"/>
          </a:solidFill>
          <a:ln w="12700">
            <a:solidFill>
              <a:srgbClr val="E95420"/>
            </a:solidFill>
            <a:prstDash val="solid"/>
          </a:ln>
        </p:spPr>
      </p:sp>
      <p:pic>
        <p:nvPicPr>
          <p:cNvPr id="20" name="Image 4" descr="preencoded.png">    </p:cNvPr>
          <p:cNvPicPr>
            <a:picLocks noChangeAspect="1"/>
          </p:cNvPicPr>
          <p:nvPr/>
        </p:nvPicPr>
        <p:blipFill>
          <a:blip r:embed="rId5"/>
          <a:stretch>
            <a:fillRect/>
          </a:stretch>
        </p:blipFill>
        <p:spPr>
          <a:xfrm>
            <a:off x="617220" y="4165092"/>
            <a:ext cx="320040" cy="320040"/>
          </a:xfrm>
          <a:prstGeom prst="rect">
            <a:avLst/>
          </a:prstGeom>
        </p:spPr>
      </p:pic>
      <p:sp>
        <p:nvSpPr>
          <p:cNvPr id="21" name="Text 14"/>
          <p:cNvSpPr txBox="1"/>
          <p:nvPr/>
        </p:nvSpPr>
        <p:spPr>
          <a:xfrm>
            <a:off x="1280160" y="3977640"/>
            <a:ext cx="3200400" cy="320040"/>
          </a:xfrm>
          <a:prstGeom prst="rect">
            <a:avLst/>
          </a:prstGeom>
          <a:noFill/>
          <a:ln/>
        </p:spPr>
        <p:txBody>
          <a:bodyPr wrap="square" lIns="0" tIns="0" rIns="0" bIns="0" rtlCol="0" anchor="ctr"/>
          <a:lstStyle/>
          <a:p>
            <a:pPr indent="0" marL="0">
              <a:buNone/>
            </a:pPr>
            <a:r>
              <a:rPr lang="en-US" sz="1700" b="1" dirty="0">
                <a:solidFill>
                  <a:srgbClr val="221A20"/>
                </a:solidFill>
                <a:latin typeface="Calibri" pitchFamily="34" charset="0"/>
                <a:ea typeface="Calibri" pitchFamily="34" charset="-122"/>
                <a:cs typeface="Calibri" pitchFamily="34" charset="-120"/>
              </a:rPr>
              <a:t>GCC and Make</a:t>
            </a:r>
            <a:endParaRPr lang="en-US" sz="1700" dirty="0"/>
          </a:p>
        </p:txBody>
      </p:sp>
      <p:sp>
        <p:nvSpPr>
          <p:cNvPr id="22" name="Text 15"/>
          <p:cNvSpPr txBox="1"/>
          <p:nvPr/>
        </p:nvSpPr>
        <p:spPr>
          <a:xfrm>
            <a:off x="1280160" y="4315968"/>
            <a:ext cx="3200400" cy="457200"/>
          </a:xfrm>
          <a:prstGeom prst="rect">
            <a:avLst/>
          </a:prstGeom>
          <a:noFill/>
          <a:ln/>
        </p:spPr>
        <p:txBody>
          <a:bodyPr wrap="square" lIns="0" tIns="0" rIns="0" bIns="0" rtlCol="0" anchor="t"/>
          <a:lstStyle/>
          <a:p>
            <a:pPr indent="0" marL="0">
              <a:buNone/>
            </a:pPr>
            <a:r>
              <a:rPr lang="en-US" sz="1300" dirty="0">
                <a:solidFill>
                  <a:srgbClr val="6B6168"/>
                </a:solidFill>
                <a:latin typeface="Calibri" pitchFamily="34" charset="0"/>
                <a:ea typeface="Calibri" pitchFamily="34" charset="-122"/>
                <a:cs typeface="Calibri" pitchFamily="34" charset="-120"/>
              </a:rPr>
              <a:t>Build the whole project with one command</a:t>
            </a:r>
            <a:endParaRPr lang="en-US" sz="1300" dirty="0"/>
          </a:p>
        </p:txBody>
      </p:sp>
      <p:sp>
        <p:nvSpPr>
          <p:cNvPr id="23" name="Shape 16"/>
          <p:cNvSpPr/>
          <p:nvPr/>
        </p:nvSpPr>
        <p:spPr>
          <a:xfrm>
            <a:off x="4663440" y="4005072"/>
            <a:ext cx="640080" cy="640080"/>
          </a:xfrm>
          <a:prstGeom prst="ellipse">
            <a:avLst/>
          </a:prstGeom>
          <a:solidFill>
            <a:srgbClr val="26A269"/>
          </a:solidFill>
          <a:ln w="12700">
            <a:solidFill>
              <a:srgbClr val="26A269"/>
            </a:solidFill>
            <a:prstDash val="solid"/>
          </a:ln>
        </p:spPr>
      </p:sp>
      <p:pic>
        <p:nvPicPr>
          <p:cNvPr id="24" name="Image 5" descr="preencoded.png">    </p:cNvPr>
          <p:cNvPicPr>
            <a:picLocks noChangeAspect="1"/>
          </p:cNvPicPr>
          <p:nvPr/>
        </p:nvPicPr>
        <p:blipFill>
          <a:blip r:embed="rId6"/>
          <a:stretch>
            <a:fillRect/>
          </a:stretch>
        </p:blipFill>
        <p:spPr>
          <a:xfrm>
            <a:off x="4823460" y="4165092"/>
            <a:ext cx="320040" cy="320040"/>
          </a:xfrm>
          <a:prstGeom prst="rect">
            <a:avLst/>
          </a:prstGeom>
        </p:spPr>
      </p:pic>
      <p:sp>
        <p:nvSpPr>
          <p:cNvPr id="25" name="Text 17"/>
          <p:cNvSpPr txBox="1"/>
          <p:nvPr/>
        </p:nvSpPr>
        <p:spPr>
          <a:xfrm>
            <a:off x="5486400" y="3977640"/>
            <a:ext cx="3200400" cy="320040"/>
          </a:xfrm>
          <a:prstGeom prst="rect">
            <a:avLst/>
          </a:prstGeom>
          <a:noFill/>
          <a:ln/>
        </p:spPr>
        <p:txBody>
          <a:bodyPr wrap="square" lIns="0" tIns="0" rIns="0" bIns="0" rtlCol="0" anchor="ctr"/>
          <a:lstStyle/>
          <a:p>
            <a:pPr indent="0" marL="0">
              <a:buNone/>
            </a:pPr>
            <a:r>
              <a:rPr lang="en-US" sz="1700" b="1" dirty="0">
                <a:solidFill>
                  <a:srgbClr val="221A20"/>
                </a:solidFill>
                <a:latin typeface="Calibri" pitchFamily="34" charset="0"/>
                <a:ea typeface="Calibri" pitchFamily="34" charset="-122"/>
                <a:cs typeface="Calibri" pitchFamily="34" charset="-120"/>
              </a:rPr>
              <a:t>Python</a:t>
            </a:r>
            <a:endParaRPr lang="en-US" sz="1700" dirty="0"/>
          </a:p>
        </p:txBody>
      </p:sp>
      <p:sp>
        <p:nvSpPr>
          <p:cNvPr id="26" name="Text 18"/>
          <p:cNvSpPr txBox="1"/>
          <p:nvPr/>
        </p:nvSpPr>
        <p:spPr>
          <a:xfrm>
            <a:off x="5486400" y="4315968"/>
            <a:ext cx="3200400" cy="457200"/>
          </a:xfrm>
          <a:prstGeom prst="rect">
            <a:avLst/>
          </a:prstGeom>
          <a:noFill/>
          <a:ln/>
        </p:spPr>
        <p:txBody>
          <a:bodyPr wrap="square" lIns="0" tIns="0" rIns="0" bIns="0" rtlCol="0" anchor="t"/>
          <a:lstStyle/>
          <a:p>
            <a:pPr indent="0" marL="0">
              <a:buNone/>
            </a:pPr>
            <a:r>
              <a:rPr lang="en-US" sz="1300" dirty="0">
                <a:solidFill>
                  <a:srgbClr val="6B6168"/>
                </a:solidFill>
                <a:latin typeface="Calibri" pitchFamily="34" charset="0"/>
                <a:ea typeface="Calibri" pitchFamily="34" charset="-122"/>
                <a:cs typeface="Calibri" pitchFamily="34" charset="-120"/>
              </a:rPr>
              <a:t>Runs our automatic tests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221A20"/>
                </a:solidFill>
                <a:latin typeface="Calibri" pitchFamily="34" charset="0"/>
                <a:ea typeface="Calibri" pitchFamily="34" charset="-122"/>
                <a:cs typeface="Calibri" pitchFamily="34" charset="-120"/>
              </a:rPr>
              <a:t>How We Built It</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600" dirty="0">
                <a:solidFill>
                  <a:srgbClr val="6B6168"/>
                </a:solidFill>
                <a:latin typeface="Calibri" pitchFamily="34" charset="0"/>
                <a:ea typeface="Calibri" pitchFamily="34" charset="-122"/>
                <a:cs typeface="Calibri" pitchFamily="34" charset="-120"/>
              </a:rPr>
              <a:t>What happens between pressing a key and seeing the answer</a:t>
            </a:r>
            <a:endParaRPr lang="en-US" sz="1600" dirty="0"/>
          </a:p>
        </p:txBody>
      </p:sp>
      <p:sp>
        <p:nvSpPr>
          <p:cNvPr id="4" name="Shape 2"/>
          <p:cNvSpPr/>
          <p:nvPr/>
        </p:nvSpPr>
        <p:spPr>
          <a:xfrm>
            <a:off x="457200" y="1600200"/>
            <a:ext cx="1463040" cy="1920240"/>
          </a:xfrm>
          <a:prstGeom prst="roundRect">
            <a:avLst>
              <a:gd name="adj" fmla="val 6250"/>
            </a:avLst>
          </a:prstGeom>
          <a:solidFill>
            <a:srgbClr val="F6F3F5"/>
          </a:solidFill>
          <a:ln w="12700">
            <a:solidFill>
              <a:srgbClr val="F6F3F5"/>
            </a:solidFill>
            <a:prstDash val="solid"/>
          </a:ln>
        </p:spPr>
      </p:sp>
      <p:sp>
        <p:nvSpPr>
          <p:cNvPr id="5" name="Shape 3"/>
          <p:cNvSpPr/>
          <p:nvPr/>
        </p:nvSpPr>
        <p:spPr>
          <a:xfrm>
            <a:off x="914400" y="1801368"/>
            <a:ext cx="548640" cy="548640"/>
          </a:xfrm>
          <a:prstGeom prst="ellipse">
            <a:avLst/>
          </a:prstGeom>
          <a:solidFill>
            <a:srgbClr val="E95420"/>
          </a:solidFill>
          <a:ln w="12700">
            <a:solidFill>
              <a:srgbClr val="E95420"/>
            </a:solidFill>
            <a:prstDash val="solid"/>
          </a:ln>
        </p:spPr>
      </p:sp>
      <p:pic>
        <p:nvPicPr>
          <p:cNvPr id="6" name="Image 0" descr="preencoded.png">    </p:cNvPr>
          <p:cNvPicPr>
            <a:picLocks noChangeAspect="1"/>
          </p:cNvPicPr>
          <p:nvPr/>
        </p:nvPicPr>
        <p:blipFill>
          <a:blip r:embed="rId1"/>
          <a:stretch>
            <a:fillRect/>
          </a:stretch>
        </p:blipFill>
        <p:spPr>
          <a:xfrm>
            <a:off x="1051560" y="1938528"/>
            <a:ext cx="274320" cy="274320"/>
          </a:xfrm>
          <a:prstGeom prst="rect">
            <a:avLst/>
          </a:prstGeom>
        </p:spPr>
      </p:pic>
      <p:sp>
        <p:nvSpPr>
          <p:cNvPr id="7" name="Text 4"/>
          <p:cNvSpPr txBox="1"/>
          <p:nvPr/>
        </p:nvSpPr>
        <p:spPr>
          <a:xfrm>
            <a:off x="530352" y="2468880"/>
            <a:ext cx="1316736" cy="320040"/>
          </a:xfrm>
          <a:prstGeom prst="rect">
            <a:avLst/>
          </a:prstGeom>
          <a:noFill/>
          <a:ln/>
        </p:spPr>
        <p:txBody>
          <a:bodyPr wrap="square" lIns="0" tIns="0" rIns="0" bIns="0" rtlCol="0" anchor="ctr"/>
          <a:lstStyle/>
          <a:p>
            <a:pPr algn="ctr" indent="0" marL="0">
              <a:buNone/>
            </a:pPr>
            <a:r>
              <a:rPr lang="en-US" sz="1400" b="1" dirty="0">
                <a:solidFill>
                  <a:srgbClr val="221A20"/>
                </a:solidFill>
                <a:latin typeface="Calibri" pitchFamily="34" charset="0"/>
                <a:ea typeface="Calibri" pitchFamily="34" charset="-122"/>
                <a:cs typeface="Calibri" pitchFamily="34" charset="-120"/>
              </a:rPr>
              <a:t>Browser</a:t>
            </a:r>
            <a:endParaRPr lang="en-US" sz="1400" dirty="0"/>
          </a:p>
        </p:txBody>
      </p:sp>
      <p:sp>
        <p:nvSpPr>
          <p:cNvPr id="8" name="Text 5"/>
          <p:cNvSpPr txBox="1"/>
          <p:nvPr/>
        </p:nvSpPr>
        <p:spPr>
          <a:xfrm>
            <a:off x="530352" y="2788920"/>
            <a:ext cx="1316736" cy="457200"/>
          </a:xfrm>
          <a:prstGeom prst="rect">
            <a:avLst/>
          </a:prstGeom>
          <a:noFill/>
          <a:ln/>
        </p:spPr>
        <p:txBody>
          <a:bodyPr wrap="square" lIns="0" tIns="0" rIns="0" bIns="0" rtlCol="0" anchor="t"/>
          <a:lstStyle/>
          <a:p>
            <a:pPr algn="ctr" indent="0" marL="0">
              <a:buNone/>
            </a:pPr>
            <a:r>
              <a:rPr lang="en-US" sz="1100" dirty="0">
                <a:solidFill>
                  <a:srgbClr val="6B6168"/>
                </a:solidFill>
                <a:latin typeface="Calibri" pitchFamily="34" charset="0"/>
                <a:ea typeface="Calibri" pitchFamily="34" charset="-122"/>
                <a:cs typeface="Calibri" pitchFamily="34" charset="-120"/>
              </a:rPr>
              <a:t>You type here</a:t>
            </a:r>
            <a:endParaRPr lang="en-US" sz="1100" dirty="0"/>
          </a:p>
        </p:txBody>
      </p:sp>
      <p:sp>
        <p:nvSpPr>
          <p:cNvPr id="9" name="Shape 6"/>
          <p:cNvSpPr/>
          <p:nvPr/>
        </p:nvSpPr>
        <p:spPr>
          <a:xfrm>
            <a:off x="1947672" y="2468880"/>
            <a:ext cx="173736" cy="0"/>
          </a:xfrm>
          <a:prstGeom prst="line">
            <a:avLst/>
          </a:prstGeom>
          <a:noFill/>
          <a:ln w="25400">
            <a:solidFill>
              <a:srgbClr val="E95420"/>
            </a:solidFill>
            <a:prstDash val="solid"/>
            <a:tailEnd type="triangle"/>
          </a:ln>
        </p:spPr>
      </p:sp>
      <p:sp>
        <p:nvSpPr>
          <p:cNvPr id="10" name="Shape 7"/>
          <p:cNvSpPr/>
          <p:nvPr/>
        </p:nvSpPr>
        <p:spPr>
          <a:xfrm>
            <a:off x="2148840" y="1600200"/>
            <a:ext cx="1463040" cy="1920240"/>
          </a:xfrm>
          <a:prstGeom prst="roundRect">
            <a:avLst>
              <a:gd name="adj" fmla="val 6250"/>
            </a:avLst>
          </a:prstGeom>
          <a:solidFill>
            <a:srgbClr val="F6F3F5"/>
          </a:solidFill>
          <a:ln w="12700">
            <a:solidFill>
              <a:srgbClr val="F6F3F5"/>
            </a:solidFill>
            <a:prstDash val="solid"/>
          </a:ln>
        </p:spPr>
      </p:sp>
      <p:sp>
        <p:nvSpPr>
          <p:cNvPr id="11" name="Shape 8"/>
          <p:cNvSpPr/>
          <p:nvPr/>
        </p:nvSpPr>
        <p:spPr>
          <a:xfrm>
            <a:off x="2606040" y="1801368"/>
            <a:ext cx="548640" cy="548640"/>
          </a:xfrm>
          <a:prstGeom prst="ellipse">
            <a:avLst/>
          </a:prstGeom>
          <a:solidFill>
            <a:srgbClr val="26A269"/>
          </a:solidFill>
          <a:ln w="12700">
            <a:solidFill>
              <a:srgbClr val="26A269"/>
            </a:solidFill>
            <a:prstDash val="solid"/>
          </a:ln>
        </p:spPr>
      </p:sp>
      <p:pic>
        <p:nvPicPr>
          <p:cNvPr id="12" name="Image 1" descr="preencoded.png">    </p:cNvPr>
          <p:cNvPicPr>
            <a:picLocks noChangeAspect="1"/>
          </p:cNvPicPr>
          <p:nvPr/>
        </p:nvPicPr>
        <p:blipFill>
          <a:blip r:embed="rId2"/>
          <a:stretch>
            <a:fillRect/>
          </a:stretch>
        </p:blipFill>
        <p:spPr>
          <a:xfrm>
            <a:off x="2743200" y="1938528"/>
            <a:ext cx="274320" cy="274320"/>
          </a:xfrm>
          <a:prstGeom prst="rect">
            <a:avLst/>
          </a:prstGeom>
        </p:spPr>
      </p:pic>
      <p:sp>
        <p:nvSpPr>
          <p:cNvPr id="13" name="Text 9"/>
          <p:cNvSpPr txBox="1"/>
          <p:nvPr/>
        </p:nvSpPr>
        <p:spPr>
          <a:xfrm>
            <a:off x="2221992" y="2468880"/>
            <a:ext cx="1316736" cy="320040"/>
          </a:xfrm>
          <a:prstGeom prst="rect">
            <a:avLst/>
          </a:prstGeom>
          <a:noFill/>
          <a:ln/>
        </p:spPr>
        <p:txBody>
          <a:bodyPr wrap="square" lIns="0" tIns="0" rIns="0" bIns="0" rtlCol="0" anchor="ctr"/>
          <a:lstStyle/>
          <a:p>
            <a:pPr algn="ctr" indent="0" marL="0">
              <a:buNone/>
            </a:pPr>
            <a:r>
              <a:rPr lang="en-US" sz="1400" b="1" dirty="0">
                <a:solidFill>
                  <a:srgbClr val="221A20"/>
                </a:solidFill>
                <a:latin typeface="Calibri" pitchFamily="34" charset="0"/>
                <a:ea typeface="Calibri" pitchFamily="34" charset="-122"/>
                <a:cs typeface="Calibri" pitchFamily="34" charset="-120"/>
              </a:rPr>
              <a:t>Our C server</a:t>
            </a:r>
            <a:endParaRPr lang="en-US" sz="1400" dirty="0"/>
          </a:p>
        </p:txBody>
      </p:sp>
      <p:sp>
        <p:nvSpPr>
          <p:cNvPr id="14" name="Text 10"/>
          <p:cNvSpPr txBox="1"/>
          <p:nvPr/>
        </p:nvSpPr>
        <p:spPr>
          <a:xfrm>
            <a:off x="2221992" y="2788920"/>
            <a:ext cx="1316736" cy="457200"/>
          </a:xfrm>
          <a:prstGeom prst="rect">
            <a:avLst/>
          </a:prstGeom>
          <a:noFill/>
          <a:ln/>
        </p:spPr>
        <p:txBody>
          <a:bodyPr wrap="square" lIns="0" tIns="0" rIns="0" bIns="0" rtlCol="0" anchor="t"/>
          <a:lstStyle/>
          <a:p>
            <a:pPr algn="ctr" indent="0" marL="0">
              <a:buNone/>
            </a:pPr>
            <a:r>
              <a:rPr lang="en-US" sz="1100" dirty="0">
                <a:solidFill>
                  <a:srgbClr val="6B6168"/>
                </a:solidFill>
                <a:latin typeface="Calibri" pitchFamily="34" charset="0"/>
                <a:ea typeface="Calibri" pitchFamily="34" charset="-122"/>
                <a:cs typeface="Calibri" pitchFamily="34" charset="-120"/>
              </a:rPr>
              <a:t>Passes keys along</a:t>
            </a:r>
            <a:endParaRPr lang="en-US" sz="1100" dirty="0"/>
          </a:p>
        </p:txBody>
      </p:sp>
      <p:sp>
        <p:nvSpPr>
          <p:cNvPr id="15" name="Shape 11"/>
          <p:cNvSpPr/>
          <p:nvPr/>
        </p:nvSpPr>
        <p:spPr>
          <a:xfrm>
            <a:off x="3639312" y="2468880"/>
            <a:ext cx="173736" cy="0"/>
          </a:xfrm>
          <a:prstGeom prst="line">
            <a:avLst/>
          </a:prstGeom>
          <a:noFill/>
          <a:ln w="25400">
            <a:solidFill>
              <a:srgbClr val="E95420"/>
            </a:solidFill>
            <a:prstDash val="solid"/>
            <a:tailEnd type="triangle"/>
          </a:ln>
        </p:spPr>
      </p:sp>
      <p:sp>
        <p:nvSpPr>
          <p:cNvPr id="16" name="Shape 12"/>
          <p:cNvSpPr/>
          <p:nvPr/>
        </p:nvSpPr>
        <p:spPr>
          <a:xfrm>
            <a:off x="3840480" y="1600200"/>
            <a:ext cx="1463040" cy="1920240"/>
          </a:xfrm>
          <a:prstGeom prst="roundRect">
            <a:avLst>
              <a:gd name="adj" fmla="val 6250"/>
            </a:avLst>
          </a:prstGeom>
          <a:solidFill>
            <a:srgbClr val="F6F3F5"/>
          </a:solidFill>
          <a:ln w="12700">
            <a:solidFill>
              <a:srgbClr val="F6F3F5"/>
            </a:solidFill>
            <a:prstDash val="solid"/>
          </a:ln>
        </p:spPr>
      </p:sp>
      <p:sp>
        <p:nvSpPr>
          <p:cNvPr id="17" name="Shape 13"/>
          <p:cNvSpPr/>
          <p:nvPr/>
        </p:nvSpPr>
        <p:spPr>
          <a:xfrm>
            <a:off x="4297680" y="1801368"/>
            <a:ext cx="548640" cy="548640"/>
          </a:xfrm>
          <a:prstGeom prst="ellipse">
            <a:avLst/>
          </a:prstGeom>
          <a:solidFill>
            <a:srgbClr val="E95420"/>
          </a:solidFill>
          <a:ln w="12700">
            <a:solidFill>
              <a:srgbClr val="E95420"/>
            </a:solidFill>
            <a:prstDash val="solid"/>
          </a:ln>
        </p:spPr>
      </p:sp>
      <p:pic>
        <p:nvPicPr>
          <p:cNvPr id="18" name="Image 2" descr="preencoded.png">    </p:cNvPr>
          <p:cNvPicPr>
            <a:picLocks noChangeAspect="1"/>
          </p:cNvPicPr>
          <p:nvPr/>
        </p:nvPicPr>
        <p:blipFill>
          <a:blip r:embed="rId3"/>
          <a:stretch>
            <a:fillRect/>
          </a:stretch>
        </p:blipFill>
        <p:spPr>
          <a:xfrm>
            <a:off x="4434840" y="1938528"/>
            <a:ext cx="274320" cy="274320"/>
          </a:xfrm>
          <a:prstGeom prst="rect">
            <a:avLst/>
          </a:prstGeom>
        </p:spPr>
      </p:pic>
      <p:sp>
        <p:nvSpPr>
          <p:cNvPr id="19" name="Text 14"/>
          <p:cNvSpPr txBox="1"/>
          <p:nvPr/>
        </p:nvSpPr>
        <p:spPr>
          <a:xfrm>
            <a:off x="3913632" y="2468880"/>
            <a:ext cx="1316736" cy="320040"/>
          </a:xfrm>
          <a:prstGeom prst="rect">
            <a:avLst/>
          </a:prstGeom>
          <a:noFill/>
          <a:ln/>
        </p:spPr>
        <p:txBody>
          <a:bodyPr wrap="square" lIns="0" tIns="0" rIns="0" bIns="0" rtlCol="0" anchor="ctr"/>
          <a:lstStyle/>
          <a:p>
            <a:pPr algn="ctr" indent="0" marL="0">
              <a:buNone/>
            </a:pPr>
            <a:r>
              <a:rPr lang="en-US" sz="1400" b="1" dirty="0">
                <a:solidFill>
                  <a:srgbClr val="221A20"/>
                </a:solidFill>
                <a:latin typeface="Calibri" pitchFamily="34" charset="0"/>
                <a:ea typeface="Calibri" pitchFamily="34" charset="-122"/>
                <a:cs typeface="Calibri" pitchFamily="34" charset="-120"/>
              </a:rPr>
              <a:t>Pseudo-terminal</a:t>
            </a:r>
            <a:endParaRPr lang="en-US" sz="1400" dirty="0"/>
          </a:p>
        </p:txBody>
      </p:sp>
      <p:sp>
        <p:nvSpPr>
          <p:cNvPr id="20" name="Text 15"/>
          <p:cNvSpPr txBox="1"/>
          <p:nvPr/>
        </p:nvSpPr>
        <p:spPr>
          <a:xfrm>
            <a:off x="3913632" y="2788920"/>
            <a:ext cx="1316736" cy="457200"/>
          </a:xfrm>
          <a:prstGeom prst="rect">
            <a:avLst/>
          </a:prstGeom>
          <a:noFill/>
          <a:ln/>
        </p:spPr>
        <p:txBody>
          <a:bodyPr wrap="square" lIns="0" tIns="0" rIns="0" bIns="0" rtlCol="0" anchor="t"/>
          <a:lstStyle/>
          <a:p>
            <a:pPr algn="ctr" indent="0" marL="0">
              <a:buNone/>
            </a:pPr>
            <a:r>
              <a:rPr lang="en-US" sz="1100" dirty="0">
                <a:solidFill>
                  <a:srgbClr val="6B6168"/>
                </a:solidFill>
                <a:latin typeface="Calibri" pitchFamily="34" charset="0"/>
                <a:ea typeface="Calibri" pitchFamily="34" charset="-122"/>
                <a:cs typeface="Calibri" pitchFamily="34" charset="-120"/>
              </a:rPr>
              <a:t>Acts like a real terminal</a:t>
            </a:r>
            <a:endParaRPr lang="en-US" sz="1100" dirty="0"/>
          </a:p>
        </p:txBody>
      </p:sp>
      <p:sp>
        <p:nvSpPr>
          <p:cNvPr id="21" name="Shape 16"/>
          <p:cNvSpPr/>
          <p:nvPr/>
        </p:nvSpPr>
        <p:spPr>
          <a:xfrm>
            <a:off x="5330952" y="2468880"/>
            <a:ext cx="173736" cy="0"/>
          </a:xfrm>
          <a:prstGeom prst="line">
            <a:avLst/>
          </a:prstGeom>
          <a:noFill/>
          <a:ln w="25400">
            <a:solidFill>
              <a:srgbClr val="E95420"/>
            </a:solidFill>
            <a:prstDash val="solid"/>
            <a:tailEnd type="triangle"/>
          </a:ln>
        </p:spPr>
      </p:sp>
      <p:sp>
        <p:nvSpPr>
          <p:cNvPr id="22" name="Shape 17"/>
          <p:cNvSpPr/>
          <p:nvPr/>
        </p:nvSpPr>
        <p:spPr>
          <a:xfrm>
            <a:off x="5532120" y="1600200"/>
            <a:ext cx="1463040" cy="1920240"/>
          </a:xfrm>
          <a:prstGeom prst="roundRect">
            <a:avLst>
              <a:gd name="adj" fmla="val 6250"/>
            </a:avLst>
          </a:prstGeom>
          <a:solidFill>
            <a:srgbClr val="2C0A22"/>
          </a:solidFill>
          <a:ln w="12700">
            <a:solidFill>
              <a:srgbClr val="2C0A22"/>
            </a:solidFill>
            <a:prstDash val="solid"/>
          </a:ln>
        </p:spPr>
      </p:sp>
      <p:sp>
        <p:nvSpPr>
          <p:cNvPr id="23" name="Shape 18"/>
          <p:cNvSpPr/>
          <p:nvPr/>
        </p:nvSpPr>
        <p:spPr>
          <a:xfrm>
            <a:off x="5989320" y="1801368"/>
            <a:ext cx="548640" cy="548640"/>
          </a:xfrm>
          <a:prstGeom prst="ellipse">
            <a:avLst/>
          </a:prstGeom>
          <a:solidFill>
            <a:srgbClr val="E95420"/>
          </a:solidFill>
          <a:ln w="12700">
            <a:solidFill>
              <a:srgbClr val="E95420"/>
            </a:solidFill>
            <a:prstDash val="solid"/>
          </a:ln>
        </p:spPr>
      </p:sp>
      <p:pic>
        <p:nvPicPr>
          <p:cNvPr id="24" name="Image 3" descr="preencoded.png">    </p:cNvPr>
          <p:cNvPicPr>
            <a:picLocks noChangeAspect="1"/>
          </p:cNvPicPr>
          <p:nvPr/>
        </p:nvPicPr>
        <p:blipFill>
          <a:blip r:embed="rId4"/>
          <a:stretch>
            <a:fillRect/>
          </a:stretch>
        </p:blipFill>
        <p:spPr>
          <a:xfrm>
            <a:off x="6126480" y="1938528"/>
            <a:ext cx="274320" cy="274320"/>
          </a:xfrm>
          <a:prstGeom prst="rect">
            <a:avLst/>
          </a:prstGeom>
        </p:spPr>
      </p:pic>
      <p:sp>
        <p:nvSpPr>
          <p:cNvPr id="25" name="Text 19"/>
          <p:cNvSpPr txBox="1"/>
          <p:nvPr/>
        </p:nvSpPr>
        <p:spPr>
          <a:xfrm>
            <a:off x="5605272" y="2468880"/>
            <a:ext cx="1316736"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MiniShell++</a:t>
            </a:r>
            <a:endParaRPr lang="en-US" sz="1400" dirty="0"/>
          </a:p>
        </p:txBody>
      </p:sp>
      <p:sp>
        <p:nvSpPr>
          <p:cNvPr id="26" name="Text 20"/>
          <p:cNvSpPr txBox="1"/>
          <p:nvPr/>
        </p:nvSpPr>
        <p:spPr>
          <a:xfrm>
            <a:off x="5605272" y="2788920"/>
            <a:ext cx="1316736" cy="457200"/>
          </a:xfrm>
          <a:prstGeom prst="rect">
            <a:avLst/>
          </a:prstGeom>
          <a:noFill/>
          <a:ln/>
        </p:spPr>
        <p:txBody>
          <a:bodyPr wrap="square" lIns="0" tIns="0" rIns="0" bIns="0" rtlCol="0" anchor="t"/>
          <a:lstStyle/>
          <a:p>
            <a:pPr algn="ctr" indent="0" marL="0">
              <a:buNone/>
            </a:pPr>
            <a:r>
              <a:rPr lang="en-US" sz="1100" dirty="0">
                <a:solidFill>
                  <a:srgbClr val="E8DDE5"/>
                </a:solidFill>
                <a:latin typeface="Calibri" pitchFamily="34" charset="0"/>
                <a:ea typeface="Calibri" pitchFamily="34" charset="-122"/>
                <a:cs typeface="Calibri" pitchFamily="34" charset="-120"/>
              </a:rPr>
              <a:t>Reads and runs the command</a:t>
            </a:r>
            <a:endParaRPr lang="en-US" sz="1100" dirty="0"/>
          </a:p>
        </p:txBody>
      </p:sp>
      <p:sp>
        <p:nvSpPr>
          <p:cNvPr id="27" name="Shape 21"/>
          <p:cNvSpPr/>
          <p:nvPr/>
        </p:nvSpPr>
        <p:spPr>
          <a:xfrm>
            <a:off x="7022592" y="2468880"/>
            <a:ext cx="173736" cy="0"/>
          </a:xfrm>
          <a:prstGeom prst="line">
            <a:avLst/>
          </a:prstGeom>
          <a:noFill/>
          <a:ln w="25400">
            <a:solidFill>
              <a:srgbClr val="E95420"/>
            </a:solidFill>
            <a:prstDash val="solid"/>
            <a:tailEnd type="triangle"/>
          </a:ln>
        </p:spPr>
      </p:sp>
      <p:sp>
        <p:nvSpPr>
          <p:cNvPr id="28" name="Shape 22"/>
          <p:cNvSpPr/>
          <p:nvPr/>
        </p:nvSpPr>
        <p:spPr>
          <a:xfrm>
            <a:off x="7223760" y="1600200"/>
            <a:ext cx="1463040" cy="1920240"/>
          </a:xfrm>
          <a:prstGeom prst="roundRect">
            <a:avLst>
              <a:gd name="adj" fmla="val 6250"/>
            </a:avLst>
          </a:prstGeom>
          <a:solidFill>
            <a:srgbClr val="F6F3F5"/>
          </a:solidFill>
          <a:ln w="12700">
            <a:solidFill>
              <a:srgbClr val="F6F3F5"/>
            </a:solidFill>
            <a:prstDash val="solid"/>
          </a:ln>
        </p:spPr>
      </p:sp>
      <p:sp>
        <p:nvSpPr>
          <p:cNvPr id="29" name="Shape 23"/>
          <p:cNvSpPr/>
          <p:nvPr/>
        </p:nvSpPr>
        <p:spPr>
          <a:xfrm>
            <a:off x="7680960" y="1801368"/>
            <a:ext cx="548640" cy="548640"/>
          </a:xfrm>
          <a:prstGeom prst="ellipse">
            <a:avLst/>
          </a:prstGeom>
          <a:solidFill>
            <a:srgbClr val="E95420"/>
          </a:solidFill>
          <a:ln w="12700">
            <a:solidFill>
              <a:srgbClr val="E95420"/>
            </a:solidFill>
            <a:prstDash val="solid"/>
          </a:ln>
        </p:spPr>
      </p:sp>
      <p:pic>
        <p:nvPicPr>
          <p:cNvPr id="30" name="Image 4" descr="preencoded.png">    </p:cNvPr>
          <p:cNvPicPr>
            <a:picLocks noChangeAspect="1"/>
          </p:cNvPicPr>
          <p:nvPr/>
        </p:nvPicPr>
        <p:blipFill>
          <a:blip r:embed="rId5"/>
          <a:stretch>
            <a:fillRect/>
          </a:stretch>
        </p:blipFill>
        <p:spPr>
          <a:xfrm>
            <a:off x="7818120" y="1938528"/>
            <a:ext cx="274320" cy="274320"/>
          </a:xfrm>
          <a:prstGeom prst="rect">
            <a:avLst/>
          </a:prstGeom>
        </p:spPr>
      </p:pic>
      <p:sp>
        <p:nvSpPr>
          <p:cNvPr id="31" name="Text 24"/>
          <p:cNvSpPr txBox="1"/>
          <p:nvPr/>
        </p:nvSpPr>
        <p:spPr>
          <a:xfrm>
            <a:off x="7296912" y="2468880"/>
            <a:ext cx="1316736" cy="320040"/>
          </a:xfrm>
          <a:prstGeom prst="rect">
            <a:avLst/>
          </a:prstGeom>
          <a:noFill/>
          <a:ln/>
        </p:spPr>
        <p:txBody>
          <a:bodyPr wrap="square" lIns="0" tIns="0" rIns="0" bIns="0" rtlCol="0" anchor="ctr"/>
          <a:lstStyle/>
          <a:p>
            <a:pPr algn="ctr" indent="0" marL="0">
              <a:buNone/>
            </a:pPr>
            <a:r>
              <a:rPr lang="en-US" sz="1400" b="1" dirty="0">
                <a:solidFill>
                  <a:srgbClr val="221A20"/>
                </a:solidFill>
                <a:latin typeface="Calibri" pitchFamily="34" charset="0"/>
                <a:ea typeface="Calibri" pitchFamily="34" charset="-122"/>
                <a:cs typeface="Calibri" pitchFamily="34" charset="-120"/>
              </a:rPr>
              <a:t>Program</a:t>
            </a:r>
            <a:endParaRPr lang="en-US" sz="1400" dirty="0"/>
          </a:p>
        </p:txBody>
      </p:sp>
      <p:sp>
        <p:nvSpPr>
          <p:cNvPr id="32" name="Text 25"/>
          <p:cNvSpPr txBox="1"/>
          <p:nvPr/>
        </p:nvSpPr>
        <p:spPr>
          <a:xfrm>
            <a:off x="7296912" y="2788920"/>
            <a:ext cx="1316736" cy="457200"/>
          </a:xfrm>
          <a:prstGeom prst="rect">
            <a:avLst/>
          </a:prstGeom>
          <a:noFill/>
          <a:ln/>
        </p:spPr>
        <p:txBody>
          <a:bodyPr wrap="square" lIns="0" tIns="0" rIns="0" bIns="0" rtlCol="0" anchor="t"/>
          <a:lstStyle/>
          <a:p>
            <a:pPr algn="ctr" indent="0" marL="0">
              <a:buNone/>
            </a:pPr>
            <a:r>
              <a:rPr lang="en-US" sz="1100" dirty="0">
                <a:solidFill>
                  <a:srgbClr val="6B6168"/>
                </a:solidFill>
                <a:latin typeface="Calibri" pitchFamily="34" charset="0"/>
                <a:ea typeface="Calibri" pitchFamily="34" charset="-122"/>
                <a:cs typeface="Calibri" pitchFamily="34" charset="-120"/>
              </a:rPr>
              <a:t>ls, gcc, ./a.out ...</a:t>
            </a:r>
            <a:endParaRPr lang="en-US" sz="1100" dirty="0"/>
          </a:p>
        </p:txBody>
      </p:sp>
      <p:sp>
        <p:nvSpPr>
          <p:cNvPr id="33" name="Shape 26"/>
          <p:cNvSpPr/>
          <p:nvPr/>
        </p:nvSpPr>
        <p:spPr>
          <a:xfrm>
            <a:off x="457200" y="3840480"/>
            <a:ext cx="8229600" cy="731520"/>
          </a:xfrm>
          <a:prstGeom prst="roundRect">
            <a:avLst>
              <a:gd name="adj" fmla="val 12500"/>
            </a:avLst>
          </a:prstGeom>
          <a:solidFill>
            <a:srgbClr val="FCEDE6"/>
          </a:solidFill>
          <a:ln w="12700">
            <a:solidFill>
              <a:srgbClr val="FCEDE6"/>
            </a:solidFill>
            <a:prstDash val="solid"/>
          </a:ln>
        </p:spPr>
      </p:sp>
      <p:sp>
        <p:nvSpPr>
          <p:cNvPr id="34" name="Text 27"/>
          <p:cNvSpPr txBox="1"/>
          <p:nvPr/>
        </p:nvSpPr>
        <p:spPr>
          <a:xfrm>
            <a:off x="685800" y="3840480"/>
            <a:ext cx="7772400" cy="731520"/>
          </a:xfrm>
          <a:prstGeom prst="rect">
            <a:avLst/>
          </a:prstGeom>
          <a:noFill/>
          <a:ln/>
        </p:spPr>
        <p:txBody>
          <a:bodyPr wrap="square" lIns="0" tIns="0" rIns="0" bIns="0" rtlCol="0" anchor="ctr"/>
          <a:lstStyle/>
          <a:p>
            <a:pPr indent="0" marL="0">
              <a:buNone/>
            </a:pPr>
            <a:r>
              <a:rPr lang="en-US" sz="1400" b="1" dirty="0">
                <a:solidFill>
                  <a:srgbClr val="221A20"/>
                </a:solidFill>
                <a:latin typeface="Calibri" pitchFamily="34" charset="0"/>
                <a:ea typeface="Calibri" pitchFamily="34" charset="-122"/>
                <a:cs typeface="Calibri" pitchFamily="34" charset="-120"/>
              </a:rPr>
              <a:t>The answer travels back the same way. </a:t>
            </a:r>
            <a:pPr indent="0" marL="0">
              <a:buNone/>
            </a:pPr>
            <a:r>
              <a:rPr lang="en-US" sz="1400" dirty="0">
                <a:solidFill>
                  <a:srgbClr val="6B6168"/>
                </a:solidFill>
                <a:latin typeface="Calibri" pitchFamily="34" charset="0"/>
                <a:ea typeface="Calibri" pitchFamily="34" charset="-122"/>
                <a:cs typeface="Calibri" pitchFamily="34" charset="-120"/>
              </a:rPr>
              <a:t>The program's output goes through the terminal and the server, back to your screen, while it is still running.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221A20"/>
                </a:solidFill>
                <a:latin typeface="Calibri" pitchFamily="34" charset="0"/>
                <a:ea typeface="Calibri" pitchFamily="34" charset="-122"/>
                <a:cs typeface="Calibri" pitchFamily="34" charset="-120"/>
              </a:rPr>
              <a:t>How a Command Runs</a:t>
            </a:r>
            <a:endParaRPr lang="en-US" sz="3200" dirty="0"/>
          </a:p>
        </p:txBody>
      </p:sp>
      <p:sp>
        <p:nvSpPr>
          <p:cNvPr id="3" name="Shape 1"/>
          <p:cNvSpPr/>
          <p:nvPr/>
        </p:nvSpPr>
        <p:spPr>
          <a:xfrm>
            <a:off x="457200" y="1143000"/>
            <a:ext cx="457200" cy="457200"/>
          </a:xfrm>
          <a:prstGeom prst="ellipse">
            <a:avLst/>
          </a:prstGeom>
          <a:solidFill>
            <a:srgbClr val="E95420"/>
          </a:solidFill>
          <a:ln w="12700">
            <a:solidFill>
              <a:srgbClr val="E95420"/>
            </a:solidFill>
            <a:prstDash val="solid"/>
          </a:ln>
        </p:spPr>
      </p:sp>
      <p:sp>
        <p:nvSpPr>
          <p:cNvPr id="4" name="Text 2"/>
          <p:cNvSpPr txBox="1"/>
          <p:nvPr/>
        </p:nvSpPr>
        <p:spPr>
          <a:xfrm>
            <a:off x="45720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Shape 3"/>
          <p:cNvSpPr/>
          <p:nvPr/>
        </p:nvSpPr>
        <p:spPr>
          <a:xfrm>
            <a:off x="685800" y="1600200"/>
            <a:ext cx="0" cy="201168"/>
          </a:xfrm>
          <a:prstGeom prst="line">
            <a:avLst/>
          </a:prstGeom>
          <a:noFill/>
          <a:ln w="25400">
            <a:solidFill>
              <a:srgbClr val="E0C9BE"/>
            </a:solidFill>
            <a:prstDash val="solid"/>
          </a:ln>
        </p:spPr>
      </p:sp>
      <p:sp>
        <p:nvSpPr>
          <p:cNvPr id="6" name="Text 4"/>
          <p:cNvSpPr txBox="1"/>
          <p:nvPr/>
        </p:nvSpPr>
        <p:spPr>
          <a:xfrm>
            <a:off x="1097280" y="1143000"/>
            <a:ext cx="3749040" cy="457200"/>
          </a:xfrm>
          <a:prstGeom prst="rect">
            <a:avLst/>
          </a:prstGeom>
          <a:noFill/>
          <a:ln/>
        </p:spPr>
        <p:txBody>
          <a:bodyPr wrap="square" lIns="0" tIns="0" rIns="0" bIns="0" rtlCol="0" anchor="ctr"/>
          <a:lstStyle/>
          <a:p>
            <a:pPr indent="0" marL="0">
              <a:buNone/>
            </a:pPr>
            <a:r>
              <a:rPr lang="en-US" sz="1400" b="1" dirty="0">
                <a:solidFill>
                  <a:srgbClr val="221A20"/>
                </a:solidFill>
                <a:latin typeface="Calibri" pitchFamily="34" charset="0"/>
                <a:ea typeface="Calibri" pitchFamily="34" charset="-122"/>
                <a:cs typeface="Calibri" pitchFamily="34" charset="-120"/>
              </a:rPr>
              <a:t>Read  </a:t>
            </a:r>
            <a:pPr indent="0" marL="0">
              <a:buNone/>
            </a:pPr>
            <a:r>
              <a:rPr lang="en-US" sz="1400" dirty="0">
                <a:solidFill>
                  <a:srgbClr val="6B6168"/>
                </a:solidFill>
                <a:latin typeface="Calibri" pitchFamily="34" charset="0"/>
                <a:ea typeface="Calibri" pitchFamily="34" charset="-122"/>
                <a:cs typeface="Calibri" pitchFamily="34" charset="-120"/>
              </a:rPr>
              <a:t>The shell reads the line you typed</a:t>
            </a:r>
            <a:endParaRPr lang="en-US" sz="1400" dirty="0"/>
          </a:p>
        </p:txBody>
      </p:sp>
      <p:sp>
        <p:nvSpPr>
          <p:cNvPr id="7" name="Shape 5"/>
          <p:cNvSpPr/>
          <p:nvPr/>
        </p:nvSpPr>
        <p:spPr>
          <a:xfrm>
            <a:off x="457200" y="1801368"/>
            <a:ext cx="457200" cy="457200"/>
          </a:xfrm>
          <a:prstGeom prst="ellipse">
            <a:avLst/>
          </a:prstGeom>
          <a:solidFill>
            <a:srgbClr val="E95420"/>
          </a:solidFill>
          <a:ln w="12700">
            <a:solidFill>
              <a:srgbClr val="E95420"/>
            </a:solidFill>
            <a:prstDash val="solid"/>
          </a:ln>
        </p:spPr>
      </p:sp>
      <p:sp>
        <p:nvSpPr>
          <p:cNvPr id="8" name="Text 6"/>
          <p:cNvSpPr txBox="1"/>
          <p:nvPr/>
        </p:nvSpPr>
        <p:spPr>
          <a:xfrm>
            <a:off x="457200" y="1801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Shape 7"/>
          <p:cNvSpPr/>
          <p:nvPr/>
        </p:nvSpPr>
        <p:spPr>
          <a:xfrm>
            <a:off x="685800" y="2258568"/>
            <a:ext cx="0" cy="201168"/>
          </a:xfrm>
          <a:prstGeom prst="line">
            <a:avLst/>
          </a:prstGeom>
          <a:noFill/>
          <a:ln w="25400">
            <a:solidFill>
              <a:srgbClr val="E0C9BE"/>
            </a:solidFill>
            <a:prstDash val="solid"/>
          </a:ln>
        </p:spPr>
      </p:sp>
      <p:sp>
        <p:nvSpPr>
          <p:cNvPr id="10" name="Text 8"/>
          <p:cNvSpPr txBox="1"/>
          <p:nvPr/>
        </p:nvSpPr>
        <p:spPr>
          <a:xfrm>
            <a:off x="1097280" y="1801368"/>
            <a:ext cx="3749040" cy="457200"/>
          </a:xfrm>
          <a:prstGeom prst="rect">
            <a:avLst/>
          </a:prstGeom>
          <a:noFill/>
          <a:ln/>
        </p:spPr>
        <p:txBody>
          <a:bodyPr wrap="square" lIns="0" tIns="0" rIns="0" bIns="0" rtlCol="0" anchor="ctr"/>
          <a:lstStyle/>
          <a:p>
            <a:pPr indent="0" marL="0">
              <a:buNone/>
            </a:pPr>
            <a:r>
              <a:rPr lang="en-US" sz="1400" b="1" dirty="0">
                <a:solidFill>
                  <a:srgbClr val="221A20"/>
                </a:solidFill>
                <a:latin typeface="Calibri" pitchFamily="34" charset="0"/>
                <a:ea typeface="Calibri" pitchFamily="34" charset="-122"/>
                <a:cs typeface="Calibri" pitchFamily="34" charset="-120"/>
              </a:rPr>
              <a:t>Understand  </a:t>
            </a:r>
            <a:pPr indent="0" marL="0">
              <a:buNone/>
            </a:pPr>
            <a:r>
              <a:rPr lang="en-US" sz="1400" dirty="0">
                <a:solidFill>
                  <a:srgbClr val="6B6168"/>
                </a:solidFill>
                <a:latin typeface="Calibri" pitchFamily="34" charset="0"/>
                <a:ea typeface="Calibri" pitchFamily="34" charset="-122"/>
                <a:cs typeface="Calibri" pitchFamily="34" charset="-120"/>
              </a:rPr>
              <a:t>It splits the line into the command and its words</a:t>
            </a:r>
            <a:endParaRPr lang="en-US" sz="1400" dirty="0"/>
          </a:p>
        </p:txBody>
      </p:sp>
      <p:sp>
        <p:nvSpPr>
          <p:cNvPr id="11" name="Shape 9"/>
          <p:cNvSpPr/>
          <p:nvPr/>
        </p:nvSpPr>
        <p:spPr>
          <a:xfrm>
            <a:off x="457200" y="2459736"/>
            <a:ext cx="457200" cy="457200"/>
          </a:xfrm>
          <a:prstGeom prst="ellipse">
            <a:avLst/>
          </a:prstGeom>
          <a:solidFill>
            <a:srgbClr val="E95420"/>
          </a:solidFill>
          <a:ln w="12700">
            <a:solidFill>
              <a:srgbClr val="E95420"/>
            </a:solidFill>
            <a:prstDash val="solid"/>
          </a:ln>
        </p:spPr>
      </p:sp>
      <p:sp>
        <p:nvSpPr>
          <p:cNvPr id="12" name="Text 10"/>
          <p:cNvSpPr txBox="1"/>
          <p:nvPr/>
        </p:nvSpPr>
        <p:spPr>
          <a:xfrm>
            <a:off x="457200" y="24597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Shape 11"/>
          <p:cNvSpPr/>
          <p:nvPr/>
        </p:nvSpPr>
        <p:spPr>
          <a:xfrm>
            <a:off x="685800" y="2916936"/>
            <a:ext cx="0" cy="201168"/>
          </a:xfrm>
          <a:prstGeom prst="line">
            <a:avLst/>
          </a:prstGeom>
          <a:noFill/>
          <a:ln w="25400">
            <a:solidFill>
              <a:srgbClr val="E0C9BE"/>
            </a:solidFill>
            <a:prstDash val="solid"/>
          </a:ln>
        </p:spPr>
      </p:sp>
      <p:sp>
        <p:nvSpPr>
          <p:cNvPr id="14" name="Text 12"/>
          <p:cNvSpPr txBox="1"/>
          <p:nvPr/>
        </p:nvSpPr>
        <p:spPr>
          <a:xfrm>
            <a:off x="1097280" y="2459736"/>
            <a:ext cx="3749040" cy="457200"/>
          </a:xfrm>
          <a:prstGeom prst="rect">
            <a:avLst/>
          </a:prstGeom>
          <a:noFill/>
          <a:ln/>
        </p:spPr>
        <p:txBody>
          <a:bodyPr wrap="square" lIns="0" tIns="0" rIns="0" bIns="0" rtlCol="0" anchor="ctr"/>
          <a:lstStyle/>
          <a:p>
            <a:pPr indent="0" marL="0">
              <a:buNone/>
            </a:pPr>
            <a:r>
              <a:rPr lang="en-US" sz="1400" b="1" dirty="0">
                <a:solidFill>
                  <a:srgbClr val="221A20"/>
                </a:solidFill>
                <a:latin typeface="Calibri" pitchFamily="34" charset="0"/>
                <a:ea typeface="Calibri" pitchFamily="34" charset="-122"/>
                <a:cs typeface="Calibri" pitchFamily="34" charset="-120"/>
              </a:rPr>
              <a:t>Copy (fork)  </a:t>
            </a:r>
            <a:pPr indent="0" marL="0">
              <a:buNone/>
            </a:pPr>
            <a:r>
              <a:rPr lang="en-US" sz="1400" dirty="0">
                <a:solidFill>
                  <a:srgbClr val="6B6168"/>
                </a:solidFill>
                <a:latin typeface="Calibri" pitchFamily="34" charset="0"/>
                <a:ea typeface="Calibri" pitchFamily="34" charset="-122"/>
                <a:cs typeface="Calibri" pitchFamily="34" charset="-120"/>
              </a:rPr>
              <a:t>It makes a copy of itself, called a child process</a:t>
            </a:r>
            <a:endParaRPr lang="en-US" sz="1400" dirty="0"/>
          </a:p>
        </p:txBody>
      </p:sp>
      <p:sp>
        <p:nvSpPr>
          <p:cNvPr id="15" name="Shape 13"/>
          <p:cNvSpPr/>
          <p:nvPr/>
        </p:nvSpPr>
        <p:spPr>
          <a:xfrm>
            <a:off x="457200" y="3118104"/>
            <a:ext cx="457200" cy="457200"/>
          </a:xfrm>
          <a:prstGeom prst="ellipse">
            <a:avLst/>
          </a:prstGeom>
          <a:solidFill>
            <a:srgbClr val="E95420"/>
          </a:solidFill>
          <a:ln w="12700">
            <a:solidFill>
              <a:srgbClr val="E95420"/>
            </a:solidFill>
            <a:prstDash val="solid"/>
          </a:ln>
        </p:spPr>
      </p:sp>
      <p:sp>
        <p:nvSpPr>
          <p:cNvPr id="16" name="Text 14"/>
          <p:cNvSpPr txBox="1"/>
          <p:nvPr/>
        </p:nvSpPr>
        <p:spPr>
          <a:xfrm>
            <a:off x="457200" y="31181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Shape 15"/>
          <p:cNvSpPr/>
          <p:nvPr/>
        </p:nvSpPr>
        <p:spPr>
          <a:xfrm>
            <a:off x="685800" y="3575304"/>
            <a:ext cx="0" cy="201168"/>
          </a:xfrm>
          <a:prstGeom prst="line">
            <a:avLst/>
          </a:prstGeom>
          <a:noFill/>
          <a:ln w="25400">
            <a:solidFill>
              <a:srgbClr val="E0C9BE"/>
            </a:solidFill>
            <a:prstDash val="solid"/>
          </a:ln>
        </p:spPr>
      </p:sp>
      <p:sp>
        <p:nvSpPr>
          <p:cNvPr id="18" name="Text 16"/>
          <p:cNvSpPr txBox="1"/>
          <p:nvPr/>
        </p:nvSpPr>
        <p:spPr>
          <a:xfrm>
            <a:off x="1097280" y="3118104"/>
            <a:ext cx="3749040" cy="457200"/>
          </a:xfrm>
          <a:prstGeom prst="rect">
            <a:avLst/>
          </a:prstGeom>
          <a:noFill/>
          <a:ln/>
        </p:spPr>
        <p:txBody>
          <a:bodyPr wrap="square" lIns="0" tIns="0" rIns="0" bIns="0" rtlCol="0" anchor="ctr"/>
          <a:lstStyle/>
          <a:p>
            <a:pPr indent="0" marL="0">
              <a:buNone/>
            </a:pPr>
            <a:r>
              <a:rPr lang="en-US" sz="1400" b="1" dirty="0">
                <a:solidFill>
                  <a:srgbClr val="221A20"/>
                </a:solidFill>
                <a:latin typeface="Calibri" pitchFamily="34" charset="0"/>
                <a:ea typeface="Calibri" pitchFamily="34" charset="-122"/>
                <a:cs typeface="Calibri" pitchFamily="34" charset="-120"/>
              </a:rPr>
              <a:t>Replace (exec)  </a:t>
            </a:r>
            <a:pPr indent="0" marL="0">
              <a:buNone/>
            </a:pPr>
            <a:r>
              <a:rPr lang="en-US" sz="1400" dirty="0">
                <a:solidFill>
                  <a:srgbClr val="6B6168"/>
                </a:solidFill>
                <a:latin typeface="Calibri" pitchFamily="34" charset="0"/>
                <a:ea typeface="Calibri" pitchFamily="34" charset="-122"/>
                <a:cs typeface="Calibri" pitchFamily="34" charset="-120"/>
              </a:rPr>
              <a:t>The copy turns into the program, like ls or gcc</a:t>
            </a:r>
            <a:endParaRPr lang="en-US" sz="1400" dirty="0"/>
          </a:p>
        </p:txBody>
      </p:sp>
      <p:sp>
        <p:nvSpPr>
          <p:cNvPr id="19" name="Shape 17"/>
          <p:cNvSpPr/>
          <p:nvPr/>
        </p:nvSpPr>
        <p:spPr>
          <a:xfrm>
            <a:off x="457200" y="3776472"/>
            <a:ext cx="457200" cy="457200"/>
          </a:xfrm>
          <a:prstGeom prst="ellipse">
            <a:avLst/>
          </a:prstGeom>
          <a:solidFill>
            <a:srgbClr val="E95420"/>
          </a:solidFill>
          <a:ln w="12700">
            <a:solidFill>
              <a:srgbClr val="E95420"/>
            </a:solidFill>
            <a:prstDash val="solid"/>
          </a:ln>
        </p:spPr>
      </p:sp>
      <p:sp>
        <p:nvSpPr>
          <p:cNvPr id="20" name="Text 18"/>
          <p:cNvSpPr txBox="1"/>
          <p:nvPr/>
        </p:nvSpPr>
        <p:spPr>
          <a:xfrm>
            <a:off x="457200" y="37764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1097280" y="3776472"/>
            <a:ext cx="3749040" cy="457200"/>
          </a:xfrm>
          <a:prstGeom prst="rect">
            <a:avLst/>
          </a:prstGeom>
          <a:noFill/>
          <a:ln/>
        </p:spPr>
        <p:txBody>
          <a:bodyPr wrap="square" lIns="0" tIns="0" rIns="0" bIns="0" rtlCol="0" anchor="ctr"/>
          <a:lstStyle/>
          <a:p>
            <a:pPr indent="0" marL="0">
              <a:buNone/>
            </a:pPr>
            <a:r>
              <a:rPr lang="en-US" sz="1400" b="1" dirty="0">
                <a:solidFill>
                  <a:srgbClr val="221A20"/>
                </a:solidFill>
                <a:latin typeface="Calibri" pitchFamily="34" charset="0"/>
                <a:ea typeface="Calibri" pitchFamily="34" charset="-122"/>
                <a:cs typeface="Calibri" pitchFamily="34" charset="-120"/>
              </a:rPr>
              <a:t>Wait  </a:t>
            </a:r>
            <a:pPr indent="0" marL="0">
              <a:buNone/>
            </a:pPr>
            <a:r>
              <a:rPr lang="en-US" sz="1400" dirty="0">
                <a:solidFill>
                  <a:srgbClr val="6B6168"/>
                </a:solidFill>
                <a:latin typeface="Calibri" pitchFamily="34" charset="0"/>
                <a:ea typeface="Calibri" pitchFamily="34" charset="-122"/>
                <a:cs typeface="Calibri" pitchFamily="34" charset="-120"/>
              </a:rPr>
              <a:t>The shell waits until the program finishes</a:t>
            </a:r>
            <a:endParaRPr lang="en-US" sz="1400" dirty="0"/>
          </a:p>
        </p:txBody>
      </p:sp>
      <p:sp>
        <p:nvSpPr>
          <p:cNvPr id="22" name="Shape 20"/>
          <p:cNvSpPr/>
          <p:nvPr/>
        </p:nvSpPr>
        <p:spPr>
          <a:xfrm>
            <a:off x="5120640" y="1143000"/>
            <a:ext cx="3566160" cy="2148840"/>
          </a:xfrm>
          <a:prstGeom prst="roundRect">
            <a:avLst>
              <a:gd name="adj" fmla="val 3404"/>
            </a:avLst>
          </a:prstGeom>
          <a:solidFill>
            <a:srgbClr val="300A24"/>
          </a:solidFill>
          <a:ln w="12700">
            <a:solidFill>
              <a:srgbClr val="4A1A3E"/>
            </a:solidFill>
            <a:prstDash val="solid"/>
          </a:ln>
          <a:effectLst>
            <a:outerShdw sx="100000" sy="100000" kx="0" ky="0" algn="bl" rotWithShape="0" blurRad="101600" dist="38100" dir="5400000">
              <a:srgbClr val="000000">
                <a:alpha val="35000"/>
              </a:srgbClr>
            </a:outerShdw>
          </a:effectLst>
        </p:spPr>
      </p:sp>
      <p:sp>
        <p:nvSpPr>
          <p:cNvPr id="23" name="Shape 21"/>
          <p:cNvSpPr/>
          <p:nvPr/>
        </p:nvSpPr>
        <p:spPr>
          <a:xfrm>
            <a:off x="5120640" y="1143000"/>
            <a:ext cx="3566160" cy="292608"/>
          </a:xfrm>
          <a:prstGeom prst="roundRect">
            <a:avLst>
              <a:gd name="adj" fmla="val 25000"/>
            </a:avLst>
          </a:prstGeom>
          <a:solidFill>
            <a:srgbClr val="2B2B2B"/>
          </a:solidFill>
          <a:ln w="12700">
            <a:solidFill>
              <a:srgbClr val="2B2B2B"/>
            </a:solidFill>
            <a:prstDash val="solid"/>
          </a:ln>
        </p:spPr>
      </p:sp>
      <p:sp>
        <p:nvSpPr>
          <p:cNvPr id="24" name="Shape 22"/>
          <p:cNvSpPr/>
          <p:nvPr/>
        </p:nvSpPr>
        <p:spPr>
          <a:xfrm>
            <a:off x="5120640" y="1325880"/>
            <a:ext cx="3566160" cy="109728"/>
          </a:xfrm>
          <a:prstGeom prst="rect">
            <a:avLst/>
          </a:prstGeom>
          <a:solidFill>
            <a:srgbClr val="2B2B2B"/>
          </a:solidFill>
          <a:ln w="12700">
            <a:solidFill>
              <a:srgbClr val="2B2B2B"/>
            </a:solidFill>
            <a:prstDash val="solid"/>
          </a:ln>
        </p:spPr>
      </p:sp>
      <p:sp>
        <p:nvSpPr>
          <p:cNvPr id="25" name="Shape 23"/>
          <p:cNvSpPr/>
          <p:nvPr/>
        </p:nvSpPr>
        <p:spPr>
          <a:xfrm>
            <a:off x="8412480" y="1234440"/>
            <a:ext cx="109728" cy="109728"/>
          </a:xfrm>
          <a:prstGeom prst="ellipse">
            <a:avLst/>
          </a:prstGeom>
          <a:solidFill>
            <a:srgbClr val="E95420"/>
          </a:solidFill>
          <a:ln w="12700">
            <a:solidFill>
              <a:srgbClr val="E95420"/>
            </a:solidFill>
            <a:prstDash val="solid"/>
          </a:ln>
        </p:spPr>
      </p:sp>
      <p:sp>
        <p:nvSpPr>
          <p:cNvPr id="26" name="Shape 24"/>
          <p:cNvSpPr/>
          <p:nvPr/>
        </p:nvSpPr>
        <p:spPr>
          <a:xfrm>
            <a:off x="8211312" y="1234440"/>
            <a:ext cx="109728" cy="109728"/>
          </a:xfrm>
          <a:prstGeom prst="ellipse">
            <a:avLst/>
          </a:prstGeom>
          <a:solidFill>
            <a:srgbClr val="8A8A8A"/>
          </a:solidFill>
          <a:ln w="12700">
            <a:solidFill>
              <a:srgbClr val="8A8A8A"/>
            </a:solidFill>
            <a:prstDash val="solid"/>
          </a:ln>
        </p:spPr>
      </p:sp>
      <p:sp>
        <p:nvSpPr>
          <p:cNvPr id="27" name="Shape 25"/>
          <p:cNvSpPr/>
          <p:nvPr/>
        </p:nvSpPr>
        <p:spPr>
          <a:xfrm>
            <a:off x="8010144" y="1234440"/>
            <a:ext cx="109728" cy="109728"/>
          </a:xfrm>
          <a:prstGeom prst="ellipse">
            <a:avLst/>
          </a:prstGeom>
          <a:solidFill>
            <a:srgbClr val="8A8A8A"/>
          </a:solidFill>
          <a:ln w="12700">
            <a:solidFill>
              <a:srgbClr val="8A8A8A"/>
            </a:solidFill>
            <a:prstDash val="solid"/>
          </a:ln>
        </p:spPr>
      </p:sp>
      <p:sp>
        <p:nvSpPr>
          <p:cNvPr id="28" name="Text 26"/>
          <p:cNvSpPr txBox="1"/>
          <p:nvPr/>
        </p:nvSpPr>
        <p:spPr>
          <a:xfrm>
            <a:off x="5120640" y="1161288"/>
            <a:ext cx="3566160" cy="256032"/>
          </a:xfrm>
          <a:prstGeom prst="rect">
            <a:avLst/>
          </a:prstGeom>
          <a:noFill/>
          <a:ln/>
        </p:spPr>
        <p:txBody>
          <a:bodyPr wrap="square" lIns="0" tIns="0" rIns="0" bIns="0" rtlCol="0" anchor="ctr"/>
          <a:lstStyle/>
          <a:p>
            <a:pPr algn="ctr" indent="0" marL="0">
              <a:buNone/>
            </a:pPr>
            <a:r>
              <a:rPr lang="en-US" sz="1000" b="1" dirty="0">
                <a:solidFill>
                  <a:srgbClr val="EEEEEE"/>
                </a:solidFill>
                <a:latin typeface="Calibri" pitchFamily="34" charset="0"/>
                <a:ea typeface="Calibri" pitchFamily="34" charset="-122"/>
                <a:cs typeface="Calibri" pitchFamily="34" charset="-120"/>
              </a:rPr>
              <a:t>Ctrl-Z in action</a:t>
            </a:r>
            <a:endParaRPr lang="en-US" sz="1000" dirty="0"/>
          </a:p>
        </p:txBody>
      </p:sp>
      <p:sp>
        <p:nvSpPr>
          <p:cNvPr id="29" name="Text 27"/>
          <p:cNvSpPr txBox="1"/>
          <p:nvPr/>
        </p:nvSpPr>
        <p:spPr>
          <a:xfrm>
            <a:off x="5257800" y="1527048"/>
            <a:ext cx="3291840" cy="1673352"/>
          </a:xfrm>
          <a:prstGeom prst="rect">
            <a:avLst/>
          </a:prstGeom>
          <a:noFill/>
          <a:ln/>
        </p:spPr>
        <p:txBody>
          <a:bodyPr wrap="square" lIns="0" tIns="0" rIns="0" bIns="0" rtlCol="0" anchor="t"/>
          <a:lstStyle/>
          <a:p>
            <a:pPr indent="0" marL="0">
              <a:buNone/>
            </a:pPr>
            <a:r>
              <a:rPr lang="en-US" sz="1100" b="1" dirty="0">
                <a:solidFill>
                  <a:srgbClr val="33DA7A"/>
                </a:solidFill>
                <a:latin typeface="Courier New" pitchFamily="34" charset="0"/>
                <a:ea typeface="Courier New" pitchFamily="34" charset="-122"/>
                <a:cs typeface="Courier New" pitchFamily="34" charset="-120"/>
              </a:rPr>
              <a:t>user@ubuntu</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b="1" dirty="0">
                <a:solidFill>
                  <a:srgbClr val="2A7BDE"/>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./a.out</a:t>
            </a:r>
            <a:endParaRPr lang="en-US" sz="1100" dirty="0"/>
          </a:p>
          <a:p>
            <a:pPr indent="0" marL="0">
              <a:buNone/>
            </a:pPr>
            <a:r>
              <a:rPr lang="en-US" sz="1100" dirty="0">
                <a:solidFill>
                  <a:srgbClr val="D0CFCC"/>
                </a:solidFill>
                <a:latin typeface="Courier New" pitchFamily="34" charset="0"/>
                <a:ea typeface="Courier New" pitchFamily="34" charset="-122"/>
                <a:cs typeface="Courier New" pitchFamily="34" charset="-120"/>
              </a:rPr>
              <a:t>tick 1</a:t>
            </a:r>
            <a:endParaRPr lang="en-US" sz="1100" dirty="0"/>
          </a:p>
          <a:p>
            <a:pPr indent="0" marL="0">
              <a:buNone/>
            </a:pPr>
            <a:r>
              <a:rPr lang="en-US" sz="1100" dirty="0">
                <a:solidFill>
                  <a:srgbClr val="D0CFCC"/>
                </a:solidFill>
                <a:latin typeface="Courier New" pitchFamily="34" charset="0"/>
                <a:ea typeface="Courier New" pitchFamily="34" charset="-122"/>
                <a:cs typeface="Courier New" pitchFamily="34" charset="-120"/>
              </a:rPr>
              <a:t>tick 2</a:t>
            </a:r>
            <a:endParaRPr lang="en-US" sz="1100" dirty="0"/>
          </a:p>
          <a:p>
            <a:pPr indent="0" marL="0">
              <a:buNone/>
            </a:pPr>
            <a:r>
              <a:rPr lang="en-US" sz="1100" dirty="0">
                <a:solidFill>
                  <a:srgbClr val="D0CFCC"/>
                </a:solidFill>
                <a:latin typeface="Courier New" pitchFamily="34" charset="0"/>
                <a:ea typeface="Courier New" pitchFamily="34" charset="-122"/>
                <a:cs typeface="Courier New" pitchFamily="34" charset="-120"/>
              </a:rPr>
              <a:t>^Z</a:t>
            </a:r>
            <a:endParaRPr lang="en-US" sz="1100" dirty="0"/>
          </a:p>
          <a:p>
            <a:pPr indent="0" marL="0">
              <a:buNone/>
            </a:pPr>
            <a:r>
              <a:rPr lang="en-US" sz="1100" dirty="0">
                <a:solidFill>
                  <a:srgbClr val="D0CFCC"/>
                </a:solidFill>
                <a:latin typeface="Courier New" pitchFamily="34" charset="0"/>
                <a:ea typeface="Courier New" pitchFamily="34" charset="-122"/>
                <a:cs typeface="Courier New" pitchFamily="34" charset="-120"/>
              </a:rPr>
              <a:t>[1]+  Stopped   ./a.out</a:t>
            </a:r>
            <a:endParaRPr lang="en-US" sz="1100" dirty="0"/>
          </a:p>
          <a:p>
            <a:pPr indent="0" marL="0">
              <a:buNone/>
            </a:pPr>
            <a:r>
              <a:rPr lang="en-US" sz="1100" b="1" dirty="0">
                <a:solidFill>
                  <a:srgbClr val="33DA7A"/>
                </a:solidFill>
                <a:latin typeface="Courier New" pitchFamily="34" charset="0"/>
                <a:ea typeface="Courier New" pitchFamily="34" charset="-122"/>
                <a:cs typeface="Courier New" pitchFamily="34" charset="-120"/>
              </a:rPr>
              <a:t>user@ubuntu</a:t>
            </a:r>
            <a:pPr indent="0" marL="0">
              <a:buNone/>
            </a:pPr>
            <a:r>
              <a:rPr lang="en-US" sz="1100" dirty="0">
                <a:solidFill>
                  <a:srgbClr val="FFFFFF"/>
                </a:solidFill>
                <a:latin typeface="Courier New" pitchFamily="34" charset="0"/>
                <a:ea typeface="Courier New" pitchFamily="34" charset="-122"/>
                <a:cs typeface="Courier New" pitchFamily="34" charset="-120"/>
              </a:rPr>
              <a:t>:</a:t>
            </a:r>
            <a:pPr indent="0" marL="0">
              <a:buNone/>
            </a:pPr>
            <a:r>
              <a:rPr lang="en-US" sz="1100" b="1" dirty="0">
                <a:solidFill>
                  <a:srgbClr val="2A7BDE"/>
                </a:solidFill>
                <a:latin typeface="Courier New" pitchFamily="34" charset="0"/>
                <a:ea typeface="Courier New" pitchFamily="34" charset="-122"/>
                <a:cs typeface="Courier New" pitchFamily="34" charset="-120"/>
              </a:rPr>
              <a:t>~</a:t>
            </a:r>
            <a:pPr indent="0" marL="0">
              <a:buNone/>
            </a:pPr>
            <a:r>
              <a:rPr lang="en-US" sz="1100" dirty="0">
                <a:solidFill>
                  <a:srgbClr val="FFFFFF"/>
                </a:solidFill>
                <a:latin typeface="Courier New" pitchFamily="34" charset="0"/>
                <a:ea typeface="Courier New" pitchFamily="34" charset="-122"/>
                <a:cs typeface="Courier New" pitchFamily="34" charset="-120"/>
              </a:rPr>
              <a:t>$ fg</a:t>
            </a:r>
            <a:endParaRPr lang="en-US" sz="1100" dirty="0"/>
          </a:p>
          <a:p>
            <a:pPr indent="0" marL="0">
              <a:buNone/>
            </a:pPr>
            <a:r>
              <a:rPr lang="en-US" sz="1100" dirty="0">
                <a:solidFill>
                  <a:srgbClr val="D0CFCC"/>
                </a:solidFill>
                <a:latin typeface="Courier New" pitchFamily="34" charset="0"/>
                <a:ea typeface="Courier New" pitchFamily="34" charset="-122"/>
                <a:cs typeface="Courier New" pitchFamily="34" charset="-120"/>
              </a:rPr>
              <a:t>tick 3</a:t>
            </a:r>
            <a:endParaRPr lang="en-US" sz="1100" dirty="0"/>
          </a:p>
        </p:txBody>
      </p:sp>
      <p:sp>
        <p:nvSpPr>
          <p:cNvPr id="30" name="Text 28"/>
          <p:cNvSpPr txBox="1"/>
          <p:nvPr/>
        </p:nvSpPr>
        <p:spPr>
          <a:xfrm>
            <a:off x="5120640" y="3474720"/>
            <a:ext cx="3566160" cy="822960"/>
          </a:xfrm>
          <a:prstGeom prst="rect">
            <a:avLst/>
          </a:prstGeom>
          <a:noFill/>
          <a:ln/>
        </p:spPr>
        <p:txBody>
          <a:bodyPr wrap="square" lIns="0" tIns="0" rIns="0" bIns="0" rtlCol="0" anchor="t"/>
          <a:lstStyle/>
          <a:p>
            <a:pPr indent="0" marL="0">
              <a:buNone/>
            </a:pPr>
            <a:r>
              <a:rPr lang="en-US" sz="1300" b="1" dirty="0">
                <a:solidFill>
                  <a:srgbClr val="E95420"/>
                </a:solidFill>
                <a:latin typeface="Calibri" pitchFamily="34" charset="0"/>
                <a:ea typeface="Calibri" pitchFamily="34" charset="-122"/>
                <a:cs typeface="Calibri" pitchFamily="34" charset="-120"/>
              </a:rPr>
              <a:t>Ctrl-Z </a:t>
            </a:r>
            <a:pPr indent="0" marL="0">
              <a:buNone/>
            </a:pPr>
            <a:r>
              <a:rPr lang="en-US" sz="1300" dirty="0">
                <a:solidFill>
                  <a:srgbClr val="221A20"/>
                </a:solidFill>
                <a:latin typeface="Calibri" pitchFamily="34" charset="0"/>
                <a:ea typeface="Calibri" pitchFamily="34" charset="-122"/>
                <a:cs typeface="Calibri" pitchFamily="34" charset="-120"/>
              </a:rPr>
              <a:t>pauses a program. </a:t>
            </a:r>
            <a:pPr indent="0" marL="0">
              <a:buNone/>
            </a:pPr>
            <a:r>
              <a:rPr lang="en-US" sz="1300" b="1" dirty="0">
                <a:solidFill>
                  <a:srgbClr val="221A20"/>
                </a:solidFill>
                <a:latin typeface="Courier New" pitchFamily="34" charset="0"/>
                <a:ea typeface="Courier New" pitchFamily="34" charset="-122"/>
                <a:cs typeface="Courier New" pitchFamily="34" charset="-120"/>
              </a:rPr>
              <a:t>jobs</a:t>
            </a:r>
            <a:pPr indent="0" marL="0">
              <a:buNone/>
            </a:pPr>
            <a:r>
              <a:rPr lang="en-US" sz="1300" dirty="0">
                <a:solidFill>
                  <a:srgbClr val="221A20"/>
                </a:solidFill>
                <a:latin typeface="Calibri" pitchFamily="34" charset="0"/>
                <a:ea typeface="Calibri" pitchFamily="34" charset="-122"/>
                <a:cs typeface="Calibri" pitchFamily="34" charset="-120"/>
              </a:rPr>
              <a:t> lists it, </a:t>
            </a:r>
            <a:pPr indent="0" marL="0">
              <a:buNone/>
            </a:pPr>
            <a:r>
              <a:rPr lang="en-US" sz="1300" b="1" dirty="0">
                <a:solidFill>
                  <a:srgbClr val="221A20"/>
                </a:solidFill>
                <a:latin typeface="Courier New" pitchFamily="34" charset="0"/>
                <a:ea typeface="Courier New" pitchFamily="34" charset="-122"/>
                <a:cs typeface="Courier New" pitchFamily="34" charset="-120"/>
              </a:rPr>
              <a:t>fg</a:t>
            </a:r>
            <a:pPr indent="0" marL="0">
              <a:buNone/>
            </a:pPr>
            <a:r>
              <a:rPr lang="en-US" sz="1300" dirty="0">
                <a:solidFill>
                  <a:srgbClr val="221A20"/>
                </a:solidFill>
                <a:latin typeface="Calibri" pitchFamily="34" charset="0"/>
                <a:ea typeface="Calibri" pitchFamily="34" charset="-122"/>
                <a:cs typeface="Calibri" pitchFamily="34" charset="-120"/>
              </a:rPr>
              <a:t> brings it back, </a:t>
            </a:r>
            <a:pPr indent="0" marL="0">
              <a:buNone/>
            </a:pPr>
            <a:r>
              <a:rPr lang="en-US" sz="1300" b="1" dirty="0">
                <a:solidFill>
                  <a:srgbClr val="221A20"/>
                </a:solidFill>
                <a:latin typeface="Courier New" pitchFamily="34" charset="0"/>
                <a:ea typeface="Courier New" pitchFamily="34" charset="-122"/>
                <a:cs typeface="Courier New" pitchFamily="34" charset="-120"/>
              </a:rPr>
              <a:t>bg</a:t>
            </a:r>
            <a:pPr indent="0" marL="0">
              <a:buNone/>
            </a:pPr>
            <a:r>
              <a:rPr lang="en-US" sz="1300" dirty="0">
                <a:solidFill>
                  <a:srgbClr val="221A20"/>
                </a:solidFill>
                <a:latin typeface="Calibri" pitchFamily="34" charset="0"/>
                <a:ea typeface="Calibri" pitchFamily="34" charset="-122"/>
                <a:cs typeface="Calibri" pitchFamily="34" charset="-120"/>
              </a:rPr>
              <a:t> lets it run in the background.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221A20"/>
                </a:solidFill>
                <a:latin typeface="Calibri" pitchFamily="34" charset="0"/>
                <a:ea typeface="Calibri" pitchFamily="34" charset="-122"/>
                <a:cs typeface="Calibri" pitchFamily="34" charset="-120"/>
              </a:rPr>
              <a:t>What Works Today (80%)</a:t>
            </a:r>
            <a:endParaRPr lang="en-US" sz="3200" dirty="0"/>
          </a:p>
        </p:txBody>
      </p:sp>
      <p:sp>
        <p:nvSpPr>
          <p:cNvPr id="3" name="Shape 1"/>
          <p:cNvSpPr/>
          <p:nvPr/>
        </p:nvSpPr>
        <p:spPr>
          <a:xfrm>
            <a:off x="457200" y="1097280"/>
            <a:ext cx="2606040" cy="1280160"/>
          </a:xfrm>
          <a:prstGeom prst="roundRect">
            <a:avLst>
              <a:gd name="adj" fmla="val 7143"/>
            </a:avLst>
          </a:prstGeom>
          <a:solidFill>
            <a:srgbClr val="F6F3F5"/>
          </a:solidFill>
          <a:ln w="12700">
            <a:solidFill>
              <a:srgbClr val="F6F3F5"/>
            </a:solidFill>
            <a:prstDash val="solid"/>
          </a:ln>
        </p:spPr>
      </p:sp>
      <p:sp>
        <p:nvSpPr>
          <p:cNvPr id="4" name="Text 2"/>
          <p:cNvSpPr txBox="1"/>
          <p:nvPr/>
        </p:nvSpPr>
        <p:spPr>
          <a:xfrm>
            <a:off x="457200" y="1188720"/>
            <a:ext cx="2606040" cy="731520"/>
          </a:xfrm>
          <a:prstGeom prst="rect">
            <a:avLst/>
          </a:prstGeom>
          <a:noFill/>
          <a:ln/>
        </p:spPr>
        <p:txBody>
          <a:bodyPr wrap="square" lIns="0" tIns="0" rIns="0" bIns="0" rtlCol="0" anchor="ctr"/>
          <a:lstStyle/>
          <a:p>
            <a:pPr algn="ctr" indent="0" marL="0">
              <a:buNone/>
            </a:pPr>
            <a:r>
              <a:rPr lang="en-US" sz="4400" b="1" dirty="0">
                <a:solidFill>
                  <a:srgbClr val="E95420"/>
                </a:solidFill>
                <a:latin typeface="Calibri" pitchFamily="34" charset="0"/>
                <a:ea typeface="Calibri" pitchFamily="34" charset="-122"/>
                <a:cs typeface="Calibri" pitchFamily="34" charset="-120"/>
              </a:rPr>
              <a:t>16</a:t>
            </a:r>
            <a:endParaRPr lang="en-US" sz="4400" dirty="0"/>
          </a:p>
        </p:txBody>
      </p:sp>
      <p:sp>
        <p:nvSpPr>
          <p:cNvPr id="5" name="Text 3"/>
          <p:cNvSpPr txBox="1"/>
          <p:nvPr/>
        </p:nvSpPr>
        <p:spPr>
          <a:xfrm>
            <a:off x="457200" y="1920240"/>
            <a:ext cx="2606040" cy="320040"/>
          </a:xfrm>
          <a:prstGeom prst="rect">
            <a:avLst/>
          </a:prstGeom>
          <a:noFill/>
          <a:ln/>
        </p:spPr>
        <p:txBody>
          <a:bodyPr wrap="square" lIns="0" tIns="0" rIns="0" bIns="0" rtlCol="0" anchor="ctr"/>
          <a:lstStyle/>
          <a:p>
            <a:pPr algn="ctr" indent="0" marL="0">
              <a:buNone/>
            </a:pPr>
            <a:r>
              <a:rPr lang="en-US" sz="1400" dirty="0">
                <a:solidFill>
                  <a:srgbClr val="6B6168"/>
                </a:solidFill>
                <a:latin typeface="Calibri" pitchFamily="34" charset="0"/>
                <a:ea typeface="Calibri" pitchFamily="34" charset="-122"/>
                <a:cs typeface="Calibri" pitchFamily="34" charset="-120"/>
              </a:rPr>
              <a:t>commands working</a:t>
            </a:r>
            <a:endParaRPr lang="en-US" sz="1400" dirty="0"/>
          </a:p>
        </p:txBody>
      </p:sp>
      <p:sp>
        <p:nvSpPr>
          <p:cNvPr id="6" name="Shape 4"/>
          <p:cNvSpPr/>
          <p:nvPr/>
        </p:nvSpPr>
        <p:spPr>
          <a:xfrm>
            <a:off x="3246120" y="1097280"/>
            <a:ext cx="2606040" cy="1280160"/>
          </a:xfrm>
          <a:prstGeom prst="roundRect">
            <a:avLst>
              <a:gd name="adj" fmla="val 7143"/>
            </a:avLst>
          </a:prstGeom>
          <a:solidFill>
            <a:srgbClr val="2C0A22"/>
          </a:solidFill>
          <a:ln w="12700">
            <a:solidFill>
              <a:srgbClr val="2C0A22"/>
            </a:solidFill>
            <a:prstDash val="solid"/>
          </a:ln>
        </p:spPr>
      </p:sp>
      <p:sp>
        <p:nvSpPr>
          <p:cNvPr id="7" name="Text 5"/>
          <p:cNvSpPr txBox="1"/>
          <p:nvPr/>
        </p:nvSpPr>
        <p:spPr>
          <a:xfrm>
            <a:off x="3246120" y="1188720"/>
            <a:ext cx="2606040" cy="731520"/>
          </a:xfrm>
          <a:prstGeom prst="rect">
            <a:avLst/>
          </a:prstGeom>
          <a:noFill/>
          <a:ln/>
        </p:spPr>
        <p:txBody>
          <a:bodyPr wrap="square" lIns="0" tIns="0" rIns="0" bIns="0" rtlCol="0" anchor="ctr"/>
          <a:lstStyle/>
          <a:p>
            <a:pPr algn="ctr" indent="0" marL="0">
              <a:buNone/>
            </a:pPr>
            <a:r>
              <a:rPr lang="en-US" sz="4400" b="1" dirty="0">
                <a:solidFill>
                  <a:srgbClr val="33DA7A"/>
                </a:solidFill>
                <a:latin typeface="Calibri" pitchFamily="34" charset="0"/>
                <a:ea typeface="Calibri" pitchFamily="34" charset="-122"/>
                <a:cs typeface="Calibri" pitchFamily="34" charset="-120"/>
              </a:rPr>
              <a:t>22</a:t>
            </a:r>
            <a:endParaRPr lang="en-US" sz="4400" dirty="0"/>
          </a:p>
        </p:txBody>
      </p:sp>
      <p:sp>
        <p:nvSpPr>
          <p:cNvPr id="8" name="Text 6"/>
          <p:cNvSpPr txBox="1"/>
          <p:nvPr/>
        </p:nvSpPr>
        <p:spPr>
          <a:xfrm>
            <a:off x="3246120" y="1920240"/>
            <a:ext cx="2606040" cy="320040"/>
          </a:xfrm>
          <a:prstGeom prst="rect">
            <a:avLst/>
          </a:prstGeom>
          <a:noFill/>
          <a:ln/>
        </p:spPr>
        <p:txBody>
          <a:bodyPr wrap="square" lIns="0" tIns="0" rIns="0" bIns="0" rtlCol="0" anchor="ctr"/>
          <a:lstStyle/>
          <a:p>
            <a:pPr algn="ctr" indent="0" marL="0">
              <a:buNone/>
            </a:pPr>
            <a:r>
              <a:rPr lang="en-US" sz="1400" dirty="0">
                <a:solidFill>
                  <a:srgbClr val="E8DDE5"/>
                </a:solidFill>
                <a:latin typeface="Calibri" pitchFamily="34" charset="0"/>
                <a:ea typeface="Calibri" pitchFamily="34" charset="-122"/>
                <a:cs typeface="Calibri" pitchFamily="34" charset="-120"/>
              </a:rPr>
              <a:t>automatic tests passed</a:t>
            </a:r>
            <a:endParaRPr lang="en-US" sz="1400" dirty="0"/>
          </a:p>
        </p:txBody>
      </p:sp>
      <p:sp>
        <p:nvSpPr>
          <p:cNvPr id="9" name="Shape 7"/>
          <p:cNvSpPr/>
          <p:nvPr/>
        </p:nvSpPr>
        <p:spPr>
          <a:xfrm>
            <a:off x="6035040" y="1097280"/>
            <a:ext cx="2606040" cy="1280160"/>
          </a:xfrm>
          <a:prstGeom prst="roundRect">
            <a:avLst>
              <a:gd name="adj" fmla="val 7143"/>
            </a:avLst>
          </a:prstGeom>
          <a:solidFill>
            <a:srgbClr val="F6F3F5"/>
          </a:solidFill>
          <a:ln w="12700">
            <a:solidFill>
              <a:srgbClr val="F6F3F5"/>
            </a:solidFill>
            <a:prstDash val="solid"/>
          </a:ln>
        </p:spPr>
      </p:sp>
      <p:sp>
        <p:nvSpPr>
          <p:cNvPr id="10" name="Text 8"/>
          <p:cNvSpPr txBox="1"/>
          <p:nvPr/>
        </p:nvSpPr>
        <p:spPr>
          <a:xfrm>
            <a:off x="6035040" y="1188720"/>
            <a:ext cx="2606040" cy="731520"/>
          </a:xfrm>
          <a:prstGeom prst="rect">
            <a:avLst/>
          </a:prstGeom>
          <a:noFill/>
          <a:ln/>
        </p:spPr>
        <p:txBody>
          <a:bodyPr wrap="square" lIns="0" tIns="0" rIns="0" bIns="0" rtlCol="0" anchor="ctr"/>
          <a:lstStyle/>
          <a:p>
            <a:pPr algn="ctr" indent="0" marL="0">
              <a:buNone/>
            </a:pPr>
            <a:r>
              <a:rPr lang="en-US" sz="4400" b="1" dirty="0">
                <a:solidFill>
                  <a:srgbClr val="E95420"/>
                </a:solidFill>
                <a:latin typeface="Calibri" pitchFamily="34" charset="0"/>
                <a:ea typeface="Calibri" pitchFamily="34" charset="-122"/>
                <a:cs typeface="Calibri" pitchFamily="34" charset="-120"/>
              </a:rPr>
              <a:t>3,600</a:t>
            </a:r>
            <a:endParaRPr lang="en-US" sz="4400" dirty="0"/>
          </a:p>
        </p:txBody>
      </p:sp>
      <p:sp>
        <p:nvSpPr>
          <p:cNvPr id="11" name="Text 9"/>
          <p:cNvSpPr txBox="1"/>
          <p:nvPr/>
        </p:nvSpPr>
        <p:spPr>
          <a:xfrm>
            <a:off x="6035040" y="1920240"/>
            <a:ext cx="2606040" cy="320040"/>
          </a:xfrm>
          <a:prstGeom prst="rect">
            <a:avLst/>
          </a:prstGeom>
          <a:noFill/>
          <a:ln/>
        </p:spPr>
        <p:txBody>
          <a:bodyPr wrap="square" lIns="0" tIns="0" rIns="0" bIns="0" rtlCol="0" anchor="ctr"/>
          <a:lstStyle/>
          <a:p>
            <a:pPr algn="ctr" indent="0" marL="0">
              <a:buNone/>
            </a:pPr>
            <a:r>
              <a:rPr lang="en-US" sz="1400" dirty="0">
                <a:solidFill>
                  <a:srgbClr val="6B6168"/>
                </a:solidFill>
                <a:latin typeface="Calibri" pitchFamily="34" charset="0"/>
                <a:ea typeface="Calibri" pitchFamily="34" charset="-122"/>
                <a:cs typeface="Calibri" pitchFamily="34" charset="-120"/>
              </a:rPr>
              <a:t>lines of code</a:t>
            </a:r>
            <a:endParaRPr lang="en-US" sz="1400" dirty="0"/>
          </a:p>
        </p:txBody>
      </p:sp>
      <p:sp>
        <p:nvSpPr>
          <p:cNvPr id="12" name="Text 10"/>
          <p:cNvSpPr txBox="1"/>
          <p:nvPr/>
        </p:nvSpPr>
        <p:spPr>
          <a:xfrm>
            <a:off x="457200" y="2697480"/>
            <a:ext cx="8229600" cy="320040"/>
          </a:xfrm>
          <a:prstGeom prst="rect">
            <a:avLst/>
          </a:prstGeom>
          <a:noFill/>
          <a:ln/>
        </p:spPr>
        <p:txBody>
          <a:bodyPr wrap="square" lIns="0" tIns="0" rIns="0" bIns="0" rtlCol="0" anchor="ctr"/>
          <a:lstStyle/>
          <a:p>
            <a:pPr indent="0" marL="0">
              <a:buNone/>
            </a:pPr>
            <a:r>
              <a:rPr lang="en-US" sz="1600" b="1" dirty="0">
                <a:solidFill>
                  <a:srgbClr val="221A20"/>
                </a:solidFill>
                <a:latin typeface="Calibri" pitchFamily="34" charset="0"/>
                <a:ea typeface="Calibri" pitchFamily="34" charset="-122"/>
                <a:cs typeface="Calibri" pitchFamily="34" charset="-120"/>
              </a:rPr>
              <a:t>Commands you can run</a:t>
            </a:r>
            <a:endParaRPr lang="en-US" sz="1600" dirty="0"/>
          </a:p>
        </p:txBody>
      </p:sp>
      <p:sp>
        <p:nvSpPr>
          <p:cNvPr id="13" name="Shape 11"/>
          <p:cNvSpPr/>
          <p:nvPr/>
        </p:nvSpPr>
        <p:spPr>
          <a:xfrm>
            <a:off x="457200" y="3154680"/>
            <a:ext cx="466344" cy="347472"/>
          </a:xfrm>
          <a:prstGeom prst="roundRect">
            <a:avLst>
              <a:gd name="adj" fmla="val 50000"/>
            </a:avLst>
          </a:prstGeom>
          <a:solidFill>
            <a:srgbClr val="E7F5EE"/>
          </a:solidFill>
          <a:ln w="12700">
            <a:solidFill>
              <a:srgbClr val="26A269"/>
            </a:solidFill>
            <a:prstDash val="solid"/>
          </a:ln>
        </p:spPr>
      </p:sp>
      <p:sp>
        <p:nvSpPr>
          <p:cNvPr id="14" name="Text 12"/>
          <p:cNvSpPr txBox="1"/>
          <p:nvPr/>
        </p:nvSpPr>
        <p:spPr>
          <a:xfrm>
            <a:off x="457200" y="3154680"/>
            <a:ext cx="466344"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cd</a:t>
            </a:r>
            <a:endParaRPr lang="en-US" sz="1200" dirty="0"/>
          </a:p>
        </p:txBody>
      </p:sp>
      <p:sp>
        <p:nvSpPr>
          <p:cNvPr id="15" name="Shape 13"/>
          <p:cNvSpPr/>
          <p:nvPr/>
        </p:nvSpPr>
        <p:spPr>
          <a:xfrm>
            <a:off x="1033272" y="3154680"/>
            <a:ext cx="562356" cy="347472"/>
          </a:xfrm>
          <a:prstGeom prst="roundRect">
            <a:avLst>
              <a:gd name="adj" fmla="val 50000"/>
            </a:avLst>
          </a:prstGeom>
          <a:solidFill>
            <a:srgbClr val="E7F5EE"/>
          </a:solidFill>
          <a:ln w="12700">
            <a:solidFill>
              <a:srgbClr val="26A269"/>
            </a:solidFill>
            <a:prstDash val="solid"/>
          </a:ln>
        </p:spPr>
      </p:sp>
      <p:sp>
        <p:nvSpPr>
          <p:cNvPr id="16" name="Text 14"/>
          <p:cNvSpPr txBox="1"/>
          <p:nvPr/>
        </p:nvSpPr>
        <p:spPr>
          <a:xfrm>
            <a:off x="1033272" y="3154680"/>
            <a:ext cx="562356"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pwd</a:t>
            </a:r>
            <a:endParaRPr lang="en-US" sz="1200" dirty="0"/>
          </a:p>
        </p:txBody>
      </p:sp>
      <p:sp>
        <p:nvSpPr>
          <p:cNvPr id="17" name="Shape 15"/>
          <p:cNvSpPr/>
          <p:nvPr/>
        </p:nvSpPr>
        <p:spPr>
          <a:xfrm>
            <a:off x="1705356" y="3154680"/>
            <a:ext cx="754380" cy="347472"/>
          </a:xfrm>
          <a:prstGeom prst="roundRect">
            <a:avLst>
              <a:gd name="adj" fmla="val 50000"/>
            </a:avLst>
          </a:prstGeom>
          <a:solidFill>
            <a:srgbClr val="E7F5EE"/>
          </a:solidFill>
          <a:ln w="12700">
            <a:solidFill>
              <a:srgbClr val="26A269"/>
            </a:solidFill>
            <a:prstDash val="solid"/>
          </a:ln>
        </p:spPr>
      </p:sp>
      <p:sp>
        <p:nvSpPr>
          <p:cNvPr id="18" name="Text 16"/>
          <p:cNvSpPr txBox="1"/>
          <p:nvPr/>
        </p:nvSpPr>
        <p:spPr>
          <a:xfrm>
            <a:off x="1705356" y="3154680"/>
            <a:ext cx="754380"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mkdir</a:t>
            </a:r>
            <a:endParaRPr lang="en-US" sz="1200" dirty="0"/>
          </a:p>
        </p:txBody>
      </p:sp>
      <p:sp>
        <p:nvSpPr>
          <p:cNvPr id="19" name="Shape 17"/>
          <p:cNvSpPr/>
          <p:nvPr/>
        </p:nvSpPr>
        <p:spPr>
          <a:xfrm>
            <a:off x="2569464" y="3154680"/>
            <a:ext cx="1426464" cy="347472"/>
          </a:xfrm>
          <a:prstGeom prst="roundRect">
            <a:avLst>
              <a:gd name="adj" fmla="val 50000"/>
            </a:avLst>
          </a:prstGeom>
          <a:solidFill>
            <a:srgbClr val="E7F5EE"/>
          </a:solidFill>
          <a:ln w="12700">
            <a:solidFill>
              <a:srgbClr val="26A269"/>
            </a:solidFill>
            <a:prstDash val="solid"/>
          </a:ln>
        </p:spPr>
      </p:sp>
      <p:sp>
        <p:nvSpPr>
          <p:cNvPr id="20" name="Text 18"/>
          <p:cNvSpPr txBox="1"/>
          <p:nvPr/>
        </p:nvSpPr>
        <p:spPr>
          <a:xfrm>
            <a:off x="2569464" y="3154680"/>
            <a:ext cx="1426464"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cat &gt;&gt; a.txt</a:t>
            </a:r>
            <a:endParaRPr lang="en-US" sz="1200" dirty="0"/>
          </a:p>
        </p:txBody>
      </p:sp>
      <p:sp>
        <p:nvSpPr>
          <p:cNvPr id="21" name="Shape 19"/>
          <p:cNvSpPr/>
          <p:nvPr/>
        </p:nvSpPr>
        <p:spPr>
          <a:xfrm>
            <a:off x="4105656" y="3154680"/>
            <a:ext cx="466344" cy="347472"/>
          </a:xfrm>
          <a:prstGeom prst="roundRect">
            <a:avLst>
              <a:gd name="adj" fmla="val 50000"/>
            </a:avLst>
          </a:prstGeom>
          <a:solidFill>
            <a:srgbClr val="E7F5EE"/>
          </a:solidFill>
          <a:ln w="12700">
            <a:solidFill>
              <a:srgbClr val="26A269"/>
            </a:solidFill>
            <a:prstDash val="solid"/>
          </a:ln>
        </p:spPr>
      </p:sp>
      <p:sp>
        <p:nvSpPr>
          <p:cNvPr id="22" name="Text 20"/>
          <p:cNvSpPr txBox="1"/>
          <p:nvPr/>
        </p:nvSpPr>
        <p:spPr>
          <a:xfrm>
            <a:off x="4105656" y="3154680"/>
            <a:ext cx="466344"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mv</a:t>
            </a:r>
            <a:endParaRPr lang="en-US" sz="1200" dirty="0"/>
          </a:p>
        </p:txBody>
      </p:sp>
      <p:sp>
        <p:nvSpPr>
          <p:cNvPr id="23" name="Shape 21"/>
          <p:cNvSpPr/>
          <p:nvPr/>
        </p:nvSpPr>
        <p:spPr>
          <a:xfrm>
            <a:off x="4681728" y="3154680"/>
            <a:ext cx="466344" cy="347472"/>
          </a:xfrm>
          <a:prstGeom prst="roundRect">
            <a:avLst>
              <a:gd name="adj" fmla="val 50000"/>
            </a:avLst>
          </a:prstGeom>
          <a:solidFill>
            <a:srgbClr val="E7F5EE"/>
          </a:solidFill>
          <a:ln w="12700">
            <a:solidFill>
              <a:srgbClr val="26A269"/>
            </a:solidFill>
            <a:prstDash val="solid"/>
          </a:ln>
        </p:spPr>
      </p:sp>
      <p:sp>
        <p:nvSpPr>
          <p:cNvPr id="24" name="Text 22"/>
          <p:cNvSpPr txBox="1"/>
          <p:nvPr/>
        </p:nvSpPr>
        <p:spPr>
          <a:xfrm>
            <a:off x="4681728" y="3154680"/>
            <a:ext cx="466344"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ls</a:t>
            </a:r>
            <a:endParaRPr lang="en-US" sz="1200" dirty="0"/>
          </a:p>
        </p:txBody>
      </p:sp>
      <p:sp>
        <p:nvSpPr>
          <p:cNvPr id="25" name="Shape 23"/>
          <p:cNvSpPr/>
          <p:nvPr/>
        </p:nvSpPr>
        <p:spPr>
          <a:xfrm>
            <a:off x="5257800" y="3154680"/>
            <a:ext cx="466344" cy="347472"/>
          </a:xfrm>
          <a:prstGeom prst="roundRect">
            <a:avLst>
              <a:gd name="adj" fmla="val 50000"/>
            </a:avLst>
          </a:prstGeom>
          <a:solidFill>
            <a:srgbClr val="E7F5EE"/>
          </a:solidFill>
          <a:ln w="12700">
            <a:solidFill>
              <a:srgbClr val="26A269"/>
            </a:solidFill>
            <a:prstDash val="solid"/>
          </a:ln>
        </p:spPr>
      </p:sp>
      <p:sp>
        <p:nvSpPr>
          <p:cNvPr id="26" name="Text 24"/>
          <p:cNvSpPr txBox="1"/>
          <p:nvPr/>
        </p:nvSpPr>
        <p:spPr>
          <a:xfrm>
            <a:off x="5257800" y="3154680"/>
            <a:ext cx="466344"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ps</a:t>
            </a:r>
            <a:endParaRPr lang="en-US" sz="1200" dirty="0"/>
          </a:p>
        </p:txBody>
      </p:sp>
      <p:sp>
        <p:nvSpPr>
          <p:cNvPr id="27" name="Shape 25"/>
          <p:cNvSpPr/>
          <p:nvPr/>
        </p:nvSpPr>
        <p:spPr>
          <a:xfrm>
            <a:off x="5833872" y="3154680"/>
            <a:ext cx="946404" cy="347472"/>
          </a:xfrm>
          <a:prstGeom prst="roundRect">
            <a:avLst>
              <a:gd name="adj" fmla="val 50000"/>
            </a:avLst>
          </a:prstGeom>
          <a:solidFill>
            <a:srgbClr val="E7F5EE"/>
          </a:solidFill>
          <a:ln w="12700">
            <a:solidFill>
              <a:srgbClr val="26A269"/>
            </a:solidFill>
            <a:prstDash val="solid"/>
          </a:ln>
        </p:spPr>
      </p:sp>
      <p:sp>
        <p:nvSpPr>
          <p:cNvPr id="28" name="Text 26"/>
          <p:cNvSpPr txBox="1"/>
          <p:nvPr/>
        </p:nvSpPr>
        <p:spPr>
          <a:xfrm>
            <a:off x="5833872" y="3154680"/>
            <a:ext cx="946404"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ps -aux</a:t>
            </a:r>
            <a:endParaRPr lang="en-US" sz="1200" dirty="0"/>
          </a:p>
        </p:txBody>
      </p:sp>
      <p:sp>
        <p:nvSpPr>
          <p:cNvPr id="29" name="Shape 27"/>
          <p:cNvSpPr/>
          <p:nvPr/>
        </p:nvSpPr>
        <p:spPr>
          <a:xfrm>
            <a:off x="6890004" y="3154680"/>
            <a:ext cx="562356" cy="347472"/>
          </a:xfrm>
          <a:prstGeom prst="roundRect">
            <a:avLst>
              <a:gd name="adj" fmla="val 50000"/>
            </a:avLst>
          </a:prstGeom>
          <a:solidFill>
            <a:srgbClr val="E7F5EE"/>
          </a:solidFill>
          <a:ln w="12700">
            <a:solidFill>
              <a:srgbClr val="26A269"/>
            </a:solidFill>
            <a:prstDash val="solid"/>
          </a:ln>
        </p:spPr>
      </p:sp>
      <p:sp>
        <p:nvSpPr>
          <p:cNvPr id="30" name="Text 28"/>
          <p:cNvSpPr txBox="1"/>
          <p:nvPr/>
        </p:nvSpPr>
        <p:spPr>
          <a:xfrm>
            <a:off x="6890004" y="3154680"/>
            <a:ext cx="562356"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pid</a:t>
            </a:r>
            <a:endParaRPr lang="en-US" sz="1200" dirty="0"/>
          </a:p>
        </p:txBody>
      </p:sp>
      <p:sp>
        <p:nvSpPr>
          <p:cNvPr id="31" name="Shape 29"/>
          <p:cNvSpPr/>
          <p:nvPr/>
        </p:nvSpPr>
        <p:spPr>
          <a:xfrm>
            <a:off x="7562088" y="3154680"/>
            <a:ext cx="562356" cy="347472"/>
          </a:xfrm>
          <a:prstGeom prst="roundRect">
            <a:avLst>
              <a:gd name="adj" fmla="val 50000"/>
            </a:avLst>
          </a:prstGeom>
          <a:solidFill>
            <a:srgbClr val="E7F5EE"/>
          </a:solidFill>
          <a:ln w="12700">
            <a:solidFill>
              <a:srgbClr val="26A269"/>
            </a:solidFill>
            <a:prstDash val="solid"/>
          </a:ln>
        </p:spPr>
      </p:sp>
      <p:sp>
        <p:nvSpPr>
          <p:cNvPr id="32" name="Text 30"/>
          <p:cNvSpPr txBox="1"/>
          <p:nvPr/>
        </p:nvSpPr>
        <p:spPr>
          <a:xfrm>
            <a:off x="7562088" y="3154680"/>
            <a:ext cx="562356"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man</a:t>
            </a:r>
            <a:endParaRPr lang="en-US" sz="1200" dirty="0"/>
          </a:p>
        </p:txBody>
      </p:sp>
      <p:sp>
        <p:nvSpPr>
          <p:cNvPr id="33" name="Shape 31"/>
          <p:cNvSpPr/>
          <p:nvPr/>
        </p:nvSpPr>
        <p:spPr>
          <a:xfrm>
            <a:off x="457200" y="3611880"/>
            <a:ext cx="1138428" cy="347472"/>
          </a:xfrm>
          <a:prstGeom prst="roundRect">
            <a:avLst>
              <a:gd name="adj" fmla="val 50000"/>
            </a:avLst>
          </a:prstGeom>
          <a:solidFill>
            <a:srgbClr val="E7F5EE"/>
          </a:solidFill>
          <a:ln w="12700">
            <a:solidFill>
              <a:srgbClr val="26A269"/>
            </a:solidFill>
            <a:prstDash val="solid"/>
          </a:ln>
        </p:spPr>
      </p:sp>
      <p:sp>
        <p:nvSpPr>
          <p:cNvPr id="34" name="Text 32"/>
          <p:cNvSpPr txBox="1"/>
          <p:nvPr/>
        </p:nvSpPr>
        <p:spPr>
          <a:xfrm>
            <a:off x="457200" y="3611880"/>
            <a:ext cx="1138428"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gedit h.c</a:t>
            </a:r>
            <a:endParaRPr lang="en-US" sz="1200" dirty="0"/>
          </a:p>
        </p:txBody>
      </p:sp>
      <p:sp>
        <p:nvSpPr>
          <p:cNvPr id="35" name="Shape 33"/>
          <p:cNvSpPr/>
          <p:nvPr/>
        </p:nvSpPr>
        <p:spPr>
          <a:xfrm>
            <a:off x="1705356" y="3611880"/>
            <a:ext cx="946404" cy="347472"/>
          </a:xfrm>
          <a:prstGeom prst="roundRect">
            <a:avLst>
              <a:gd name="adj" fmla="val 50000"/>
            </a:avLst>
          </a:prstGeom>
          <a:solidFill>
            <a:srgbClr val="E7F5EE"/>
          </a:solidFill>
          <a:ln w="12700">
            <a:solidFill>
              <a:srgbClr val="26A269"/>
            </a:solidFill>
            <a:prstDash val="solid"/>
          </a:ln>
        </p:spPr>
      </p:sp>
      <p:sp>
        <p:nvSpPr>
          <p:cNvPr id="36" name="Text 34"/>
          <p:cNvSpPr txBox="1"/>
          <p:nvPr/>
        </p:nvSpPr>
        <p:spPr>
          <a:xfrm>
            <a:off x="1705356" y="3611880"/>
            <a:ext cx="946404"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gcc h.c</a:t>
            </a:r>
            <a:endParaRPr lang="en-US" sz="1200" dirty="0"/>
          </a:p>
        </p:txBody>
      </p:sp>
      <p:sp>
        <p:nvSpPr>
          <p:cNvPr id="37" name="Shape 35"/>
          <p:cNvSpPr/>
          <p:nvPr/>
        </p:nvSpPr>
        <p:spPr>
          <a:xfrm>
            <a:off x="2761488" y="3611880"/>
            <a:ext cx="946404" cy="347472"/>
          </a:xfrm>
          <a:prstGeom prst="roundRect">
            <a:avLst>
              <a:gd name="adj" fmla="val 50000"/>
            </a:avLst>
          </a:prstGeom>
          <a:solidFill>
            <a:srgbClr val="E7F5EE"/>
          </a:solidFill>
          <a:ln w="12700">
            <a:solidFill>
              <a:srgbClr val="26A269"/>
            </a:solidFill>
            <a:prstDash val="solid"/>
          </a:ln>
        </p:spPr>
      </p:sp>
      <p:sp>
        <p:nvSpPr>
          <p:cNvPr id="38" name="Text 36"/>
          <p:cNvSpPr txBox="1"/>
          <p:nvPr/>
        </p:nvSpPr>
        <p:spPr>
          <a:xfrm>
            <a:off x="2761488" y="3611880"/>
            <a:ext cx="946404"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./a.out</a:t>
            </a:r>
            <a:endParaRPr lang="en-US" sz="1200" dirty="0"/>
          </a:p>
        </p:txBody>
      </p:sp>
      <p:sp>
        <p:nvSpPr>
          <p:cNvPr id="39" name="Shape 37"/>
          <p:cNvSpPr/>
          <p:nvPr/>
        </p:nvSpPr>
        <p:spPr>
          <a:xfrm>
            <a:off x="3817620" y="3611880"/>
            <a:ext cx="658368" cy="347472"/>
          </a:xfrm>
          <a:prstGeom prst="roundRect">
            <a:avLst>
              <a:gd name="adj" fmla="val 50000"/>
            </a:avLst>
          </a:prstGeom>
          <a:solidFill>
            <a:srgbClr val="E7F5EE"/>
          </a:solidFill>
          <a:ln w="12700">
            <a:solidFill>
              <a:srgbClr val="26A269"/>
            </a:solidFill>
            <a:prstDash val="solid"/>
          </a:ln>
        </p:spPr>
      </p:sp>
      <p:sp>
        <p:nvSpPr>
          <p:cNvPr id="40" name="Text 38"/>
          <p:cNvSpPr txBox="1"/>
          <p:nvPr/>
        </p:nvSpPr>
        <p:spPr>
          <a:xfrm>
            <a:off x="3817620" y="3611880"/>
            <a:ext cx="658368"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jobs</a:t>
            </a:r>
            <a:endParaRPr lang="en-US" sz="1200" dirty="0"/>
          </a:p>
        </p:txBody>
      </p:sp>
      <p:sp>
        <p:nvSpPr>
          <p:cNvPr id="41" name="Shape 39"/>
          <p:cNvSpPr/>
          <p:nvPr/>
        </p:nvSpPr>
        <p:spPr>
          <a:xfrm>
            <a:off x="4585716" y="3611880"/>
            <a:ext cx="946404" cy="347472"/>
          </a:xfrm>
          <a:prstGeom prst="roundRect">
            <a:avLst>
              <a:gd name="adj" fmla="val 50000"/>
            </a:avLst>
          </a:prstGeom>
          <a:solidFill>
            <a:srgbClr val="E7F5EE"/>
          </a:solidFill>
          <a:ln w="12700">
            <a:solidFill>
              <a:srgbClr val="26A269"/>
            </a:solidFill>
            <a:prstDash val="solid"/>
          </a:ln>
        </p:spPr>
      </p:sp>
      <p:sp>
        <p:nvSpPr>
          <p:cNvPr id="42" name="Text 40"/>
          <p:cNvSpPr txBox="1"/>
          <p:nvPr/>
        </p:nvSpPr>
        <p:spPr>
          <a:xfrm>
            <a:off x="4585716" y="3611880"/>
            <a:ext cx="946404"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fg / bg</a:t>
            </a:r>
            <a:endParaRPr lang="en-US" sz="1200" dirty="0"/>
          </a:p>
        </p:txBody>
      </p:sp>
      <p:sp>
        <p:nvSpPr>
          <p:cNvPr id="43" name="Shape 41"/>
          <p:cNvSpPr/>
          <p:nvPr/>
        </p:nvSpPr>
        <p:spPr>
          <a:xfrm>
            <a:off x="5641848" y="3611880"/>
            <a:ext cx="658368" cy="347472"/>
          </a:xfrm>
          <a:prstGeom prst="roundRect">
            <a:avLst>
              <a:gd name="adj" fmla="val 50000"/>
            </a:avLst>
          </a:prstGeom>
          <a:solidFill>
            <a:srgbClr val="E7F5EE"/>
          </a:solidFill>
          <a:ln w="12700">
            <a:solidFill>
              <a:srgbClr val="26A269"/>
            </a:solidFill>
            <a:prstDash val="solid"/>
          </a:ln>
        </p:spPr>
      </p:sp>
      <p:sp>
        <p:nvSpPr>
          <p:cNvPr id="44" name="Text 42"/>
          <p:cNvSpPr txBox="1"/>
          <p:nvPr/>
        </p:nvSpPr>
        <p:spPr>
          <a:xfrm>
            <a:off x="5641848" y="3611880"/>
            <a:ext cx="658368" cy="347472"/>
          </a:xfrm>
          <a:prstGeom prst="rect">
            <a:avLst/>
          </a:prstGeom>
          <a:noFill/>
          <a:ln/>
        </p:spPr>
        <p:txBody>
          <a:bodyPr wrap="square" lIns="0" tIns="0" rIns="0" bIns="0" rtlCol="0" anchor="ctr"/>
          <a:lstStyle/>
          <a:p>
            <a:pPr algn="ctr" indent="0" marL="0">
              <a:buNone/>
            </a:pPr>
            <a:r>
              <a:rPr lang="en-US" sz="1200" b="1" dirty="0">
                <a:solidFill>
                  <a:srgbClr val="1B7A4E"/>
                </a:solidFill>
                <a:latin typeface="Courier New" pitchFamily="34" charset="0"/>
                <a:ea typeface="Courier New" pitchFamily="34" charset="-122"/>
                <a:cs typeface="Courier New" pitchFamily="34" charset="-120"/>
              </a:rPr>
              <a:t>kill</a:t>
            </a:r>
            <a:endParaRPr lang="en-US" sz="1200" dirty="0"/>
          </a:p>
        </p:txBody>
      </p:sp>
      <p:sp>
        <p:nvSpPr>
          <p:cNvPr id="45" name="Shape 43"/>
          <p:cNvSpPr/>
          <p:nvPr/>
        </p:nvSpPr>
        <p:spPr>
          <a:xfrm>
            <a:off x="6409944" y="3611880"/>
            <a:ext cx="850392" cy="347472"/>
          </a:xfrm>
          <a:prstGeom prst="roundRect">
            <a:avLst>
              <a:gd name="adj" fmla="val 50000"/>
            </a:avLst>
          </a:prstGeom>
          <a:solidFill>
            <a:srgbClr val="FCEDE6"/>
          </a:solidFill>
          <a:ln w="12700">
            <a:solidFill>
              <a:srgbClr val="E95420"/>
            </a:solidFill>
            <a:prstDash val="solid"/>
          </a:ln>
        </p:spPr>
      </p:sp>
      <p:sp>
        <p:nvSpPr>
          <p:cNvPr id="46" name="Text 44"/>
          <p:cNvSpPr txBox="1"/>
          <p:nvPr/>
        </p:nvSpPr>
        <p:spPr>
          <a:xfrm>
            <a:off x="6409944" y="3611880"/>
            <a:ext cx="850392" cy="347472"/>
          </a:xfrm>
          <a:prstGeom prst="rect">
            <a:avLst/>
          </a:prstGeom>
          <a:noFill/>
          <a:ln/>
        </p:spPr>
        <p:txBody>
          <a:bodyPr wrap="square" lIns="0" tIns="0" rIns="0" bIns="0" rtlCol="0" anchor="ctr"/>
          <a:lstStyle/>
          <a:p>
            <a:pPr algn="ctr" indent="0" marL="0">
              <a:buNone/>
            </a:pPr>
            <a:r>
              <a:rPr lang="en-US" sz="1200" b="1" dirty="0">
                <a:solidFill>
                  <a:srgbClr val="B63D12"/>
                </a:solidFill>
                <a:latin typeface="Courier New" pitchFamily="34" charset="0"/>
                <a:ea typeface="Courier New" pitchFamily="34" charset="-122"/>
                <a:cs typeface="Courier New" pitchFamily="34" charset="-120"/>
              </a:rPr>
              <a:t>Ctrl-C</a:t>
            </a:r>
            <a:endParaRPr lang="en-US" sz="1200" dirty="0"/>
          </a:p>
        </p:txBody>
      </p:sp>
      <p:sp>
        <p:nvSpPr>
          <p:cNvPr id="47" name="Shape 45"/>
          <p:cNvSpPr/>
          <p:nvPr/>
        </p:nvSpPr>
        <p:spPr>
          <a:xfrm>
            <a:off x="7370064" y="3611880"/>
            <a:ext cx="850392" cy="347472"/>
          </a:xfrm>
          <a:prstGeom prst="roundRect">
            <a:avLst>
              <a:gd name="adj" fmla="val 50000"/>
            </a:avLst>
          </a:prstGeom>
          <a:solidFill>
            <a:srgbClr val="FCEDE6"/>
          </a:solidFill>
          <a:ln w="12700">
            <a:solidFill>
              <a:srgbClr val="E95420"/>
            </a:solidFill>
            <a:prstDash val="solid"/>
          </a:ln>
        </p:spPr>
      </p:sp>
      <p:sp>
        <p:nvSpPr>
          <p:cNvPr id="48" name="Text 46"/>
          <p:cNvSpPr txBox="1"/>
          <p:nvPr/>
        </p:nvSpPr>
        <p:spPr>
          <a:xfrm>
            <a:off x="7370064" y="3611880"/>
            <a:ext cx="850392" cy="347472"/>
          </a:xfrm>
          <a:prstGeom prst="rect">
            <a:avLst/>
          </a:prstGeom>
          <a:noFill/>
          <a:ln/>
        </p:spPr>
        <p:txBody>
          <a:bodyPr wrap="square" lIns="0" tIns="0" rIns="0" bIns="0" rtlCol="0" anchor="ctr"/>
          <a:lstStyle/>
          <a:p>
            <a:pPr algn="ctr" indent="0" marL="0">
              <a:buNone/>
            </a:pPr>
            <a:r>
              <a:rPr lang="en-US" sz="1200" b="1" dirty="0">
                <a:solidFill>
                  <a:srgbClr val="B63D12"/>
                </a:solidFill>
                <a:latin typeface="Courier New" pitchFamily="34" charset="0"/>
                <a:ea typeface="Courier New" pitchFamily="34" charset="-122"/>
                <a:cs typeface="Courier New" pitchFamily="34" charset="-120"/>
              </a:rPr>
              <a:t>Ctrl-Z</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221A20"/>
                </a:solidFill>
                <a:latin typeface="Calibri" pitchFamily="34" charset="0"/>
                <a:ea typeface="Calibri" pitchFamily="34" charset="-122"/>
                <a:cs typeface="Calibri" pitchFamily="34" charset="-120"/>
              </a:rPr>
              <a:t>Plan for the Last 20%</a:t>
            </a:r>
            <a:endParaRPr lang="en-US" sz="3200" dirty="0"/>
          </a:p>
        </p:txBody>
      </p:sp>
      <p:sp>
        <p:nvSpPr>
          <p:cNvPr id="3" name="Shape 1"/>
          <p:cNvSpPr/>
          <p:nvPr/>
        </p:nvSpPr>
        <p:spPr>
          <a:xfrm>
            <a:off x="457200" y="1097280"/>
            <a:ext cx="8229600" cy="329184"/>
          </a:xfrm>
          <a:prstGeom prst="roundRect">
            <a:avLst>
              <a:gd name="adj" fmla="val 50000"/>
            </a:avLst>
          </a:prstGeom>
          <a:solidFill>
            <a:srgbClr val="EFE7EC"/>
          </a:solidFill>
          <a:ln w="12700">
            <a:solidFill>
              <a:srgbClr val="EFE7EC"/>
            </a:solidFill>
            <a:prstDash val="solid"/>
          </a:ln>
        </p:spPr>
      </p:sp>
      <p:sp>
        <p:nvSpPr>
          <p:cNvPr id="4" name="Shape 2"/>
          <p:cNvSpPr/>
          <p:nvPr/>
        </p:nvSpPr>
        <p:spPr>
          <a:xfrm>
            <a:off x="457200" y="1097280"/>
            <a:ext cx="6583680" cy="329184"/>
          </a:xfrm>
          <a:prstGeom prst="roundRect">
            <a:avLst>
              <a:gd name="adj" fmla="val 50000"/>
            </a:avLst>
          </a:prstGeom>
          <a:solidFill>
            <a:srgbClr val="26A269"/>
          </a:solidFill>
          <a:ln w="12700">
            <a:solidFill>
              <a:srgbClr val="26A269"/>
            </a:solidFill>
            <a:prstDash val="solid"/>
          </a:ln>
        </p:spPr>
      </p:sp>
      <p:sp>
        <p:nvSpPr>
          <p:cNvPr id="5" name="Text 3"/>
          <p:cNvSpPr txBox="1"/>
          <p:nvPr/>
        </p:nvSpPr>
        <p:spPr>
          <a:xfrm>
            <a:off x="457200" y="1097280"/>
            <a:ext cx="65836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80% done</a:t>
            </a:r>
            <a:endParaRPr lang="en-US" sz="1300" dirty="0"/>
          </a:p>
        </p:txBody>
      </p:sp>
      <p:sp>
        <p:nvSpPr>
          <p:cNvPr id="6" name="Text 4"/>
          <p:cNvSpPr txBox="1"/>
          <p:nvPr/>
        </p:nvSpPr>
        <p:spPr>
          <a:xfrm>
            <a:off x="7040880" y="1097280"/>
            <a:ext cx="1645920" cy="329184"/>
          </a:xfrm>
          <a:prstGeom prst="rect">
            <a:avLst/>
          </a:prstGeom>
          <a:noFill/>
          <a:ln/>
        </p:spPr>
        <p:txBody>
          <a:bodyPr wrap="square" lIns="0" tIns="0" rIns="0" bIns="0" rtlCol="0" anchor="ctr"/>
          <a:lstStyle/>
          <a:p>
            <a:pPr algn="ctr" indent="0" marL="0">
              <a:buNone/>
            </a:pPr>
            <a:r>
              <a:rPr lang="en-US" sz="1300" b="1" dirty="0">
                <a:solidFill>
                  <a:srgbClr val="E95420"/>
                </a:solidFill>
                <a:latin typeface="Calibri" pitchFamily="34" charset="0"/>
                <a:ea typeface="Calibri" pitchFamily="34" charset="-122"/>
                <a:cs typeface="Calibri" pitchFamily="34" charset="-120"/>
              </a:rPr>
              <a:t>20% next</a:t>
            </a:r>
            <a:endParaRPr lang="en-US" sz="1300" dirty="0"/>
          </a:p>
        </p:txBody>
      </p:sp>
      <p:sp>
        <p:nvSpPr>
          <p:cNvPr id="7" name="Shape 5"/>
          <p:cNvSpPr/>
          <p:nvPr/>
        </p:nvSpPr>
        <p:spPr>
          <a:xfrm>
            <a:off x="457200" y="1874520"/>
            <a:ext cx="548640" cy="548640"/>
          </a:xfrm>
          <a:prstGeom prst="ellipse">
            <a:avLst/>
          </a:prstGeom>
          <a:solidFill>
            <a:srgbClr val="E95420"/>
          </a:solidFill>
          <a:ln w="12700">
            <a:solidFill>
              <a:srgbClr val="E95420"/>
            </a:solidFill>
            <a:prstDash val="solid"/>
          </a:ln>
        </p:spPr>
      </p:sp>
      <p:pic>
        <p:nvPicPr>
          <p:cNvPr id="8" name="Image 0" descr="preencoded.png">    </p:cNvPr>
          <p:cNvPicPr>
            <a:picLocks noChangeAspect="1"/>
          </p:cNvPicPr>
          <p:nvPr/>
        </p:nvPicPr>
        <p:blipFill>
          <a:blip r:embed="rId1"/>
          <a:stretch>
            <a:fillRect/>
          </a:stretch>
        </p:blipFill>
        <p:spPr>
          <a:xfrm>
            <a:off x="594360" y="2011680"/>
            <a:ext cx="274320" cy="274320"/>
          </a:xfrm>
          <a:prstGeom prst="rect">
            <a:avLst/>
          </a:prstGeom>
        </p:spPr>
      </p:pic>
      <p:sp>
        <p:nvSpPr>
          <p:cNvPr id="9" name="Text 6"/>
          <p:cNvSpPr txBox="1"/>
          <p:nvPr/>
        </p:nvSpPr>
        <p:spPr>
          <a:xfrm>
            <a:off x="1188720" y="1856232"/>
            <a:ext cx="3291840" cy="292608"/>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Many commands in one line</a:t>
            </a:r>
            <a:endParaRPr lang="en-US" sz="1500" dirty="0"/>
          </a:p>
        </p:txBody>
      </p:sp>
      <p:sp>
        <p:nvSpPr>
          <p:cNvPr id="10" name="Text 7"/>
          <p:cNvSpPr txBox="1"/>
          <p:nvPr/>
        </p:nvSpPr>
        <p:spPr>
          <a:xfrm>
            <a:off x="1188720" y="2148840"/>
            <a:ext cx="3291840" cy="457200"/>
          </a:xfrm>
          <a:prstGeom prst="rect">
            <a:avLst/>
          </a:prstGeom>
          <a:noFill/>
          <a:ln/>
        </p:spPr>
        <p:txBody>
          <a:bodyPr wrap="square" lIns="0" tIns="0" rIns="0" bIns="0" rtlCol="0" anchor="t"/>
          <a:lstStyle/>
          <a:p>
            <a:pPr indent="0" marL="0">
              <a:buNone/>
            </a:pPr>
            <a:r>
              <a:rPr lang="en-US" sz="1200" dirty="0">
                <a:solidFill>
                  <a:srgbClr val="6B6168"/>
                </a:solidFill>
                <a:latin typeface="Calibri" pitchFamily="34" charset="0"/>
                <a:ea typeface="Calibri" pitchFamily="34" charset="-122"/>
                <a:cs typeface="Calibri" pitchFamily="34" charset="-120"/>
              </a:rPr>
              <a:t>Using ; &amp;&amp; and || to run one command after another</a:t>
            </a:r>
            <a:endParaRPr lang="en-US" sz="1200" dirty="0"/>
          </a:p>
        </p:txBody>
      </p:sp>
      <p:sp>
        <p:nvSpPr>
          <p:cNvPr id="11" name="Shape 8"/>
          <p:cNvSpPr/>
          <p:nvPr/>
        </p:nvSpPr>
        <p:spPr>
          <a:xfrm>
            <a:off x="4663440" y="1874520"/>
            <a:ext cx="548640" cy="548640"/>
          </a:xfrm>
          <a:prstGeom prst="ellipse">
            <a:avLst/>
          </a:prstGeom>
          <a:solidFill>
            <a:srgbClr val="E95420"/>
          </a:solidFill>
          <a:ln w="12700">
            <a:solidFill>
              <a:srgbClr val="E95420"/>
            </a:solidFill>
            <a:prstDash val="solid"/>
          </a:ln>
        </p:spPr>
      </p:sp>
      <p:pic>
        <p:nvPicPr>
          <p:cNvPr id="12" name="Image 1" descr="preencoded.png">    </p:cNvPr>
          <p:cNvPicPr>
            <a:picLocks noChangeAspect="1"/>
          </p:cNvPicPr>
          <p:nvPr/>
        </p:nvPicPr>
        <p:blipFill>
          <a:blip r:embed="rId2"/>
          <a:stretch>
            <a:fillRect/>
          </a:stretch>
        </p:blipFill>
        <p:spPr>
          <a:xfrm>
            <a:off x="4800600" y="2011680"/>
            <a:ext cx="274320" cy="274320"/>
          </a:xfrm>
          <a:prstGeom prst="rect">
            <a:avLst/>
          </a:prstGeom>
        </p:spPr>
      </p:pic>
      <p:sp>
        <p:nvSpPr>
          <p:cNvPr id="13" name="Text 9"/>
          <p:cNvSpPr txBox="1"/>
          <p:nvPr/>
        </p:nvSpPr>
        <p:spPr>
          <a:xfrm>
            <a:off x="5394960" y="1856232"/>
            <a:ext cx="3291840" cy="292608"/>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Wildcards</a:t>
            </a:r>
            <a:endParaRPr lang="en-US" sz="1500" dirty="0"/>
          </a:p>
        </p:txBody>
      </p:sp>
      <p:sp>
        <p:nvSpPr>
          <p:cNvPr id="14" name="Text 10"/>
          <p:cNvSpPr txBox="1"/>
          <p:nvPr/>
        </p:nvSpPr>
        <p:spPr>
          <a:xfrm>
            <a:off x="5394960" y="2148840"/>
            <a:ext cx="3291840" cy="457200"/>
          </a:xfrm>
          <a:prstGeom prst="rect">
            <a:avLst/>
          </a:prstGeom>
          <a:noFill/>
          <a:ln/>
        </p:spPr>
        <p:txBody>
          <a:bodyPr wrap="square" lIns="0" tIns="0" rIns="0" bIns="0" rtlCol="0" anchor="t"/>
          <a:lstStyle/>
          <a:p>
            <a:pPr indent="0" marL="0">
              <a:buNone/>
            </a:pPr>
            <a:r>
              <a:rPr lang="en-US" sz="1200" dirty="0">
                <a:solidFill>
                  <a:srgbClr val="6B6168"/>
                </a:solidFill>
                <a:latin typeface="Calibri" pitchFamily="34" charset="0"/>
                <a:ea typeface="Calibri" pitchFamily="34" charset="-122"/>
                <a:cs typeface="Calibri" pitchFamily="34" charset="-120"/>
              </a:rPr>
              <a:t>*.c to mean all C files at once</a:t>
            </a:r>
            <a:endParaRPr lang="en-US" sz="1200" dirty="0"/>
          </a:p>
        </p:txBody>
      </p:sp>
      <p:sp>
        <p:nvSpPr>
          <p:cNvPr id="15" name="Shape 11"/>
          <p:cNvSpPr/>
          <p:nvPr/>
        </p:nvSpPr>
        <p:spPr>
          <a:xfrm>
            <a:off x="457200" y="2971800"/>
            <a:ext cx="548640" cy="548640"/>
          </a:xfrm>
          <a:prstGeom prst="ellipse">
            <a:avLst/>
          </a:prstGeom>
          <a:solidFill>
            <a:srgbClr val="E95420"/>
          </a:solidFill>
          <a:ln w="12700">
            <a:solidFill>
              <a:srgbClr val="E95420"/>
            </a:solidFill>
            <a:prstDash val="solid"/>
          </a:ln>
        </p:spPr>
      </p:sp>
      <p:pic>
        <p:nvPicPr>
          <p:cNvPr id="16" name="Image 2" descr="preencoded.png">    </p:cNvPr>
          <p:cNvPicPr>
            <a:picLocks noChangeAspect="1"/>
          </p:cNvPicPr>
          <p:nvPr/>
        </p:nvPicPr>
        <p:blipFill>
          <a:blip r:embed="rId3"/>
          <a:stretch>
            <a:fillRect/>
          </a:stretch>
        </p:blipFill>
        <p:spPr>
          <a:xfrm>
            <a:off x="594360" y="3108960"/>
            <a:ext cx="274320" cy="274320"/>
          </a:xfrm>
          <a:prstGeom prst="rect">
            <a:avLst/>
          </a:prstGeom>
        </p:spPr>
      </p:pic>
      <p:sp>
        <p:nvSpPr>
          <p:cNvPr id="17" name="Text 12"/>
          <p:cNvSpPr txBox="1"/>
          <p:nvPr/>
        </p:nvSpPr>
        <p:spPr>
          <a:xfrm>
            <a:off x="1188720" y="2953512"/>
            <a:ext cx="3291840" cy="292608"/>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Tab to complete</a:t>
            </a:r>
            <a:endParaRPr lang="en-US" sz="1500" dirty="0"/>
          </a:p>
        </p:txBody>
      </p:sp>
      <p:sp>
        <p:nvSpPr>
          <p:cNvPr id="18" name="Text 13"/>
          <p:cNvSpPr txBox="1"/>
          <p:nvPr/>
        </p:nvSpPr>
        <p:spPr>
          <a:xfrm>
            <a:off x="1188720" y="3246120"/>
            <a:ext cx="3291840" cy="457200"/>
          </a:xfrm>
          <a:prstGeom prst="rect">
            <a:avLst/>
          </a:prstGeom>
          <a:noFill/>
          <a:ln/>
        </p:spPr>
        <p:txBody>
          <a:bodyPr wrap="square" lIns="0" tIns="0" rIns="0" bIns="0" rtlCol="0" anchor="t"/>
          <a:lstStyle/>
          <a:p>
            <a:pPr indent="0" marL="0">
              <a:buNone/>
            </a:pPr>
            <a:r>
              <a:rPr lang="en-US" sz="1200" dirty="0">
                <a:solidFill>
                  <a:srgbClr val="6B6168"/>
                </a:solidFill>
                <a:latin typeface="Calibri" pitchFamily="34" charset="0"/>
                <a:ea typeface="Calibri" pitchFamily="34" charset="-122"/>
                <a:cs typeface="Calibri" pitchFamily="34" charset="-120"/>
              </a:rPr>
              <a:t>Press Tab to finish file names automatically</a:t>
            </a:r>
            <a:endParaRPr lang="en-US" sz="1200" dirty="0"/>
          </a:p>
        </p:txBody>
      </p:sp>
      <p:sp>
        <p:nvSpPr>
          <p:cNvPr id="19" name="Shape 14"/>
          <p:cNvSpPr/>
          <p:nvPr/>
        </p:nvSpPr>
        <p:spPr>
          <a:xfrm>
            <a:off x="4663440" y="2971800"/>
            <a:ext cx="548640" cy="548640"/>
          </a:xfrm>
          <a:prstGeom prst="ellipse">
            <a:avLst/>
          </a:prstGeom>
          <a:solidFill>
            <a:srgbClr val="E95420"/>
          </a:solidFill>
          <a:ln w="12700">
            <a:solidFill>
              <a:srgbClr val="E95420"/>
            </a:solidFill>
            <a:prstDash val="solid"/>
          </a:ln>
        </p:spPr>
      </p:sp>
      <p:pic>
        <p:nvPicPr>
          <p:cNvPr id="20" name="Image 3" descr="preencoded.png">    </p:cNvPr>
          <p:cNvPicPr>
            <a:picLocks noChangeAspect="1"/>
          </p:cNvPicPr>
          <p:nvPr/>
        </p:nvPicPr>
        <p:blipFill>
          <a:blip r:embed="rId4"/>
          <a:stretch>
            <a:fillRect/>
          </a:stretch>
        </p:blipFill>
        <p:spPr>
          <a:xfrm>
            <a:off x="4800600" y="3108960"/>
            <a:ext cx="274320" cy="274320"/>
          </a:xfrm>
          <a:prstGeom prst="rect">
            <a:avLst/>
          </a:prstGeom>
        </p:spPr>
      </p:pic>
      <p:sp>
        <p:nvSpPr>
          <p:cNvPr id="21" name="Text 15"/>
          <p:cNvSpPr txBox="1"/>
          <p:nvPr/>
        </p:nvSpPr>
        <p:spPr>
          <a:xfrm>
            <a:off x="5394960" y="2953512"/>
            <a:ext cx="3291840" cy="292608"/>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Remember history</a:t>
            </a:r>
            <a:endParaRPr lang="en-US" sz="1500" dirty="0"/>
          </a:p>
        </p:txBody>
      </p:sp>
      <p:sp>
        <p:nvSpPr>
          <p:cNvPr id="22" name="Text 16"/>
          <p:cNvSpPr txBox="1"/>
          <p:nvPr/>
        </p:nvSpPr>
        <p:spPr>
          <a:xfrm>
            <a:off x="5394960" y="3246120"/>
            <a:ext cx="3291840" cy="457200"/>
          </a:xfrm>
          <a:prstGeom prst="rect">
            <a:avLst/>
          </a:prstGeom>
          <a:noFill/>
          <a:ln/>
        </p:spPr>
        <p:txBody>
          <a:bodyPr wrap="square" lIns="0" tIns="0" rIns="0" bIns="0" rtlCol="0" anchor="t"/>
          <a:lstStyle/>
          <a:p>
            <a:pPr indent="0" marL="0">
              <a:buNone/>
            </a:pPr>
            <a:r>
              <a:rPr lang="en-US" sz="1200" dirty="0">
                <a:solidFill>
                  <a:srgbClr val="6B6168"/>
                </a:solidFill>
                <a:latin typeface="Calibri" pitchFamily="34" charset="0"/>
                <a:ea typeface="Calibri" pitchFamily="34" charset="-122"/>
                <a:cs typeface="Calibri" pitchFamily="34" charset="-120"/>
              </a:rPr>
              <a:t>Keep old commands even after closing</a:t>
            </a:r>
            <a:endParaRPr lang="en-US" sz="1200" dirty="0"/>
          </a:p>
        </p:txBody>
      </p:sp>
      <p:sp>
        <p:nvSpPr>
          <p:cNvPr id="23" name="Shape 17"/>
          <p:cNvSpPr/>
          <p:nvPr/>
        </p:nvSpPr>
        <p:spPr>
          <a:xfrm>
            <a:off x="457200" y="4069080"/>
            <a:ext cx="548640" cy="548640"/>
          </a:xfrm>
          <a:prstGeom prst="ellipse">
            <a:avLst/>
          </a:prstGeom>
          <a:solidFill>
            <a:srgbClr val="E95420"/>
          </a:solidFill>
          <a:ln w="12700">
            <a:solidFill>
              <a:srgbClr val="E95420"/>
            </a:solidFill>
            <a:prstDash val="solid"/>
          </a:ln>
        </p:spPr>
      </p:sp>
      <p:pic>
        <p:nvPicPr>
          <p:cNvPr id="24" name="Image 4" descr="preencoded.png">    </p:cNvPr>
          <p:cNvPicPr>
            <a:picLocks noChangeAspect="1"/>
          </p:cNvPicPr>
          <p:nvPr/>
        </p:nvPicPr>
        <p:blipFill>
          <a:blip r:embed="rId5"/>
          <a:stretch>
            <a:fillRect/>
          </a:stretch>
        </p:blipFill>
        <p:spPr>
          <a:xfrm>
            <a:off x="594360" y="4206240"/>
            <a:ext cx="274320" cy="274320"/>
          </a:xfrm>
          <a:prstGeom prst="rect">
            <a:avLst/>
          </a:prstGeom>
        </p:spPr>
      </p:pic>
      <p:sp>
        <p:nvSpPr>
          <p:cNvPr id="25" name="Text 18"/>
          <p:cNvSpPr txBox="1"/>
          <p:nvPr/>
        </p:nvSpPr>
        <p:spPr>
          <a:xfrm>
            <a:off x="1188720" y="4050792"/>
            <a:ext cx="3291840" cy="292608"/>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More commands</a:t>
            </a:r>
            <a:endParaRPr lang="en-US" sz="1500" dirty="0"/>
          </a:p>
        </p:txBody>
      </p:sp>
      <p:sp>
        <p:nvSpPr>
          <p:cNvPr id="26" name="Text 19"/>
          <p:cNvSpPr txBox="1"/>
          <p:nvPr/>
        </p:nvSpPr>
        <p:spPr>
          <a:xfrm>
            <a:off x="1188720" y="4343400"/>
            <a:ext cx="3291840" cy="457200"/>
          </a:xfrm>
          <a:prstGeom prst="rect">
            <a:avLst/>
          </a:prstGeom>
          <a:noFill/>
          <a:ln/>
        </p:spPr>
        <p:txBody>
          <a:bodyPr wrap="square" lIns="0" tIns="0" rIns="0" bIns="0" rtlCol="0" anchor="t"/>
          <a:lstStyle/>
          <a:p>
            <a:pPr indent="0" marL="0">
              <a:buNone/>
            </a:pPr>
            <a:r>
              <a:rPr lang="en-US" sz="1200" dirty="0">
                <a:solidFill>
                  <a:srgbClr val="6B6168"/>
                </a:solidFill>
                <a:latin typeface="Calibri" pitchFamily="34" charset="0"/>
                <a:ea typeface="Calibri" pitchFamily="34" charset="-122"/>
                <a:cs typeface="Calibri" pitchFamily="34" charset="-120"/>
              </a:rPr>
              <a:t>cp, rm, echo, touch, and others</a:t>
            </a:r>
            <a:endParaRPr lang="en-US" sz="1200" dirty="0"/>
          </a:p>
        </p:txBody>
      </p:sp>
      <p:sp>
        <p:nvSpPr>
          <p:cNvPr id="27" name="Shape 20"/>
          <p:cNvSpPr/>
          <p:nvPr/>
        </p:nvSpPr>
        <p:spPr>
          <a:xfrm>
            <a:off x="4663440" y="4069080"/>
            <a:ext cx="548640" cy="548640"/>
          </a:xfrm>
          <a:prstGeom prst="ellipse">
            <a:avLst/>
          </a:prstGeom>
          <a:solidFill>
            <a:srgbClr val="E95420"/>
          </a:solidFill>
          <a:ln w="12700">
            <a:solidFill>
              <a:srgbClr val="E95420"/>
            </a:solidFill>
            <a:prstDash val="solid"/>
          </a:ln>
        </p:spPr>
      </p:sp>
      <p:pic>
        <p:nvPicPr>
          <p:cNvPr id="28" name="Image 5" descr="preencoded.png">    </p:cNvPr>
          <p:cNvPicPr>
            <a:picLocks noChangeAspect="1"/>
          </p:cNvPicPr>
          <p:nvPr/>
        </p:nvPicPr>
        <p:blipFill>
          <a:blip r:embed="rId6"/>
          <a:stretch>
            <a:fillRect/>
          </a:stretch>
        </p:blipFill>
        <p:spPr>
          <a:xfrm>
            <a:off x="4800600" y="4206240"/>
            <a:ext cx="274320" cy="274320"/>
          </a:xfrm>
          <a:prstGeom prst="rect">
            <a:avLst/>
          </a:prstGeom>
        </p:spPr>
      </p:pic>
      <p:sp>
        <p:nvSpPr>
          <p:cNvPr id="29" name="Text 21"/>
          <p:cNvSpPr txBox="1"/>
          <p:nvPr/>
        </p:nvSpPr>
        <p:spPr>
          <a:xfrm>
            <a:off x="5394960" y="4050792"/>
            <a:ext cx="3291840" cy="292608"/>
          </a:xfrm>
          <a:prstGeom prst="rect">
            <a:avLst/>
          </a:prstGeom>
          <a:noFill/>
          <a:ln/>
        </p:spPr>
        <p:txBody>
          <a:bodyPr wrap="square" lIns="0" tIns="0" rIns="0" bIns="0" rtlCol="0" anchor="ctr"/>
          <a:lstStyle/>
          <a:p>
            <a:pPr indent="0" marL="0">
              <a:buNone/>
            </a:pPr>
            <a:r>
              <a:rPr lang="en-US" sz="1500" b="1" dirty="0">
                <a:solidFill>
                  <a:srgbClr val="221A20"/>
                </a:solidFill>
                <a:latin typeface="Calibri" pitchFamily="34" charset="0"/>
                <a:ea typeface="Calibri" pitchFamily="34" charset="-122"/>
                <a:cs typeface="Calibri" pitchFamily="34" charset="-120"/>
              </a:rPr>
              <a:t>Final testing</a:t>
            </a:r>
            <a:endParaRPr lang="en-US" sz="1500" dirty="0"/>
          </a:p>
        </p:txBody>
      </p:sp>
      <p:sp>
        <p:nvSpPr>
          <p:cNvPr id="30" name="Text 22"/>
          <p:cNvSpPr txBox="1"/>
          <p:nvPr/>
        </p:nvSpPr>
        <p:spPr>
          <a:xfrm>
            <a:off x="5394960" y="4343400"/>
            <a:ext cx="3291840" cy="457200"/>
          </a:xfrm>
          <a:prstGeom prst="rect">
            <a:avLst/>
          </a:prstGeom>
          <a:noFill/>
          <a:ln/>
        </p:spPr>
        <p:txBody>
          <a:bodyPr wrap="square" lIns="0" tIns="0" rIns="0" bIns="0" rtlCol="0" anchor="t"/>
          <a:lstStyle/>
          <a:p>
            <a:pPr indent="0" marL="0">
              <a:buNone/>
            </a:pPr>
            <a:r>
              <a:rPr lang="en-US" sz="1200" dirty="0">
                <a:solidFill>
                  <a:srgbClr val="6B6168"/>
                </a:solidFill>
                <a:latin typeface="Calibri" pitchFamily="34" charset="0"/>
                <a:ea typeface="Calibri" pitchFamily="34" charset="-122"/>
                <a:cs typeface="Calibri" pitchFamily="34" charset="-120"/>
              </a:rPr>
              <a:t>Test everything on the Linux lab machines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0A22"/>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3" name="Shape 1"/>
          <p:cNvSpPr/>
          <p:nvPr/>
        </p:nvSpPr>
        <p:spPr>
          <a:xfrm>
            <a:off x="548640" y="1463040"/>
            <a:ext cx="548640" cy="548640"/>
          </a:xfrm>
          <a:prstGeom prst="ellipse">
            <a:avLst/>
          </a:prstGeom>
          <a:solidFill>
            <a:srgbClr val="E95420"/>
          </a:solidFill>
          <a:ln w="12700">
            <a:solidFill>
              <a:srgbClr val="E95420"/>
            </a:solidFill>
            <a:prstDash val="solid"/>
          </a:ln>
        </p:spPr>
      </p:sp>
      <p:pic>
        <p:nvPicPr>
          <p:cNvPr id="4" name="Image 0" descr="preencoded.png">    </p:cNvPr>
          <p:cNvPicPr>
            <a:picLocks noChangeAspect="1"/>
          </p:cNvPicPr>
          <p:nvPr/>
        </p:nvPicPr>
        <p:blipFill>
          <a:blip r:embed="rId1"/>
          <a:stretch>
            <a:fillRect/>
          </a:stretch>
        </p:blipFill>
        <p:spPr>
          <a:xfrm>
            <a:off x="685800" y="1600200"/>
            <a:ext cx="274320" cy="274320"/>
          </a:xfrm>
          <a:prstGeom prst="rect">
            <a:avLst/>
          </a:prstGeom>
        </p:spPr>
      </p:pic>
      <p:sp>
        <p:nvSpPr>
          <p:cNvPr id="5" name="Text 2"/>
          <p:cNvSpPr txBox="1"/>
          <p:nvPr/>
        </p:nvSpPr>
        <p:spPr>
          <a:xfrm>
            <a:off x="1325880" y="1463040"/>
            <a:ext cx="7223760" cy="548640"/>
          </a:xfrm>
          <a:prstGeom prst="rect">
            <a:avLst/>
          </a:prstGeom>
          <a:noFill/>
          <a:ln/>
        </p:spPr>
        <p:txBody>
          <a:bodyPr wrap="square" lIns="0" tIns="0" rIns="0" bIns="0" rtlCol="0" anchor="ctr"/>
          <a:lstStyle/>
          <a:p>
            <a:pPr indent="0" marL="0">
              <a:buNone/>
            </a:pPr>
            <a:r>
              <a:rPr lang="en-US" sz="1900" dirty="0">
                <a:solidFill>
                  <a:srgbClr val="F3ECF1"/>
                </a:solidFill>
                <a:latin typeface="Calibri" pitchFamily="34" charset="0"/>
                <a:ea typeface="Calibri" pitchFamily="34" charset="-122"/>
                <a:cs typeface="Calibri" pitchFamily="34" charset="-120"/>
              </a:rPr>
              <a:t>We built a working terminal in C that looks and feels like Ubuntu.</a:t>
            </a:r>
            <a:endParaRPr lang="en-US" sz="1900" dirty="0"/>
          </a:p>
        </p:txBody>
      </p:sp>
      <p:sp>
        <p:nvSpPr>
          <p:cNvPr id="6" name="Shape 3"/>
          <p:cNvSpPr/>
          <p:nvPr/>
        </p:nvSpPr>
        <p:spPr>
          <a:xfrm>
            <a:off x="548640" y="2331720"/>
            <a:ext cx="548640" cy="548640"/>
          </a:xfrm>
          <a:prstGeom prst="ellipse">
            <a:avLst/>
          </a:prstGeom>
          <a:solidFill>
            <a:srgbClr val="E95420"/>
          </a:solidFill>
          <a:ln w="12700">
            <a:solidFill>
              <a:srgbClr val="E95420"/>
            </a:solidFill>
            <a:prstDash val="solid"/>
          </a:ln>
        </p:spPr>
      </p:sp>
      <p:pic>
        <p:nvPicPr>
          <p:cNvPr id="7" name="Image 1" descr="preencoded.png">    </p:cNvPr>
          <p:cNvPicPr>
            <a:picLocks noChangeAspect="1"/>
          </p:cNvPicPr>
          <p:nvPr/>
        </p:nvPicPr>
        <p:blipFill>
          <a:blip r:embed="rId2"/>
          <a:stretch>
            <a:fillRect/>
          </a:stretch>
        </p:blipFill>
        <p:spPr>
          <a:xfrm>
            <a:off x="685800" y="2468880"/>
            <a:ext cx="274320" cy="274320"/>
          </a:xfrm>
          <a:prstGeom prst="rect">
            <a:avLst/>
          </a:prstGeom>
        </p:spPr>
      </p:pic>
      <p:sp>
        <p:nvSpPr>
          <p:cNvPr id="8" name="Text 4"/>
          <p:cNvSpPr txBox="1"/>
          <p:nvPr/>
        </p:nvSpPr>
        <p:spPr>
          <a:xfrm>
            <a:off x="1325880" y="2331720"/>
            <a:ext cx="7223760" cy="548640"/>
          </a:xfrm>
          <a:prstGeom prst="rect">
            <a:avLst/>
          </a:prstGeom>
          <a:noFill/>
          <a:ln/>
        </p:spPr>
        <p:txBody>
          <a:bodyPr wrap="square" lIns="0" tIns="0" rIns="0" bIns="0" rtlCol="0" anchor="ctr"/>
          <a:lstStyle/>
          <a:p>
            <a:pPr indent="0" marL="0">
              <a:buNone/>
            </a:pPr>
            <a:r>
              <a:rPr lang="en-US" sz="1900" dirty="0">
                <a:solidFill>
                  <a:srgbClr val="F3ECF1"/>
                </a:solidFill>
                <a:latin typeface="Calibri" pitchFamily="34" charset="0"/>
                <a:ea typeface="Calibri" pitchFamily="34" charset="-122"/>
                <a:cs typeface="Calibri" pitchFamily="34" charset="-120"/>
              </a:rPr>
              <a:t>Anyone can practise Linux commands without dual booting.</a:t>
            </a:r>
            <a:endParaRPr lang="en-US" sz="1900" dirty="0"/>
          </a:p>
        </p:txBody>
      </p:sp>
      <p:sp>
        <p:nvSpPr>
          <p:cNvPr id="9" name="Shape 5"/>
          <p:cNvSpPr/>
          <p:nvPr/>
        </p:nvSpPr>
        <p:spPr>
          <a:xfrm>
            <a:off x="548640" y="3200400"/>
            <a:ext cx="548640" cy="548640"/>
          </a:xfrm>
          <a:prstGeom prst="ellipse">
            <a:avLst/>
          </a:prstGeom>
          <a:solidFill>
            <a:srgbClr val="26A269"/>
          </a:solidFill>
          <a:ln w="12700">
            <a:solidFill>
              <a:srgbClr val="26A269"/>
            </a:solidFill>
            <a:prstDash val="solid"/>
          </a:ln>
        </p:spPr>
      </p:sp>
      <p:pic>
        <p:nvPicPr>
          <p:cNvPr id="10" name="Image 2" descr="preencoded.png">    </p:cNvPr>
          <p:cNvPicPr>
            <a:picLocks noChangeAspect="1"/>
          </p:cNvPicPr>
          <p:nvPr/>
        </p:nvPicPr>
        <p:blipFill>
          <a:blip r:embed="rId3"/>
          <a:stretch>
            <a:fillRect/>
          </a:stretch>
        </p:blipFill>
        <p:spPr>
          <a:xfrm>
            <a:off x="685800" y="3337560"/>
            <a:ext cx="274320" cy="274320"/>
          </a:xfrm>
          <a:prstGeom prst="rect">
            <a:avLst/>
          </a:prstGeom>
        </p:spPr>
      </p:pic>
      <p:sp>
        <p:nvSpPr>
          <p:cNvPr id="11" name="Text 6"/>
          <p:cNvSpPr txBox="1"/>
          <p:nvPr/>
        </p:nvSpPr>
        <p:spPr>
          <a:xfrm>
            <a:off x="1325880" y="3200400"/>
            <a:ext cx="7223760" cy="548640"/>
          </a:xfrm>
          <a:prstGeom prst="rect">
            <a:avLst/>
          </a:prstGeom>
          <a:noFill/>
          <a:ln/>
        </p:spPr>
        <p:txBody>
          <a:bodyPr wrap="square" lIns="0" tIns="0" rIns="0" bIns="0" rtlCol="0" anchor="ctr"/>
          <a:lstStyle/>
          <a:p>
            <a:pPr indent="0" marL="0">
              <a:buNone/>
            </a:pPr>
            <a:r>
              <a:rPr lang="en-US" sz="1900" dirty="0">
                <a:solidFill>
                  <a:srgbClr val="F3ECF1"/>
                </a:solidFill>
                <a:latin typeface="Calibri" pitchFamily="34" charset="0"/>
                <a:ea typeface="Calibri" pitchFamily="34" charset="-122"/>
                <a:cs typeface="Calibri" pitchFamily="34" charset="-120"/>
              </a:rPr>
              <a:t>80% is done. The last 20% adds handy extra features.</a:t>
            </a:r>
            <a:endParaRPr lang="en-US" sz="1900" dirty="0"/>
          </a:p>
        </p:txBody>
      </p:sp>
      <p:sp>
        <p:nvSpPr>
          <p:cNvPr id="12" name="Text 7"/>
          <p:cNvSpPr txBox="1"/>
          <p:nvPr/>
        </p:nvSpPr>
        <p:spPr>
          <a:xfrm>
            <a:off x="548640" y="4160520"/>
            <a:ext cx="8046720" cy="548640"/>
          </a:xfrm>
          <a:prstGeom prst="rect">
            <a:avLst/>
          </a:prstGeom>
          <a:noFill/>
          <a:ln/>
        </p:spPr>
        <p:txBody>
          <a:bodyPr wrap="square" lIns="0" tIns="0" rIns="0" bIns="0" rtlCol="0" anchor="ctr"/>
          <a:lstStyle/>
          <a:p>
            <a:pPr indent="0" marL="0">
              <a:buNone/>
            </a:pPr>
            <a:r>
              <a:rPr lang="en-US" sz="2400" b="1" dirty="0">
                <a:solidFill>
                  <a:srgbClr val="E95420"/>
                </a:solidFill>
                <a:latin typeface="Calibri" pitchFamily="34" charset="0"/>
                <a:ea typeface="Calibri" pitchFamily="34" charset="-122"/>
                <a:cs typeface="Calibri" pitchFamily="34" charset="-120"/>
              </a:rPr>
              <a:t>Thank you!  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MiniShell++ - DA 2</dc:title>
  <dc:subject>PptxGenJS Presentation</dc:subject>
  <dc:creator>PptxGenJS</dc:creator>
  <cp:lastModifiedBy>PptxGenJS</cp:lastModifiedBy>
  <cp:revision>1</cp:revision>
  <dcterms:created xsi:type="dcterms:W3CDTF">2026-09-21T04:46:53Z</dcterms:created>
  <dcterms:modified xsi:type="dcterms:W3CDTF">2026-09-21T04:46:53Z</dcterms:modified>
</cp:coreProperties>
</file>